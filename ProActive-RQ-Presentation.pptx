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9" r:id="rId4"/>
    <p:sldId id="258" r:id="rId5"/>
    <p:sldId id="272" r:id="rId6"/>
    <p:sldId id="273" r:id="rId7"/>
    <p:sldId id="270" r:id="rId8"/>
    <p:sldId id="267" r:id="rId9"/>
    <p:sldId id="265" r:id="rId10"/>
    <p:sldId id="262" r:id="rId11"/>
    <p:sldId id="261" r:id="rId12"/>
    <p:sldId id="263" r:id="rId13"/>
    <p:sldId id="274" r:id="rId14"/>
    <p:sldId id="275" r:id="rId15"/>
    <p:sldId id="276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C47F3-6EDD-55DF-BC4D-A5DD20BBA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0D5B0-A44C-D7F4-C074-D6E9F1AC1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05873-5F47-248B-93DA-33AD4D29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E8AD4-506B-7B85-AE6B-179E73092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7528-F76A-28BA-920B-D0518246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97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7390E-ECCD-241E-AFCE-736FC4C85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6C994-E5DD-B367-E860-68AE2FF28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F35F1-E513-B416-2661-58B89E53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A0C3F-A24C-D8AE-F58B-75284324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F293F-8C49-1B57-1971-6954F1E8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57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DC5A9-2993-6F9A-D9D4-D36841FA6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DCCBE-5362-7F64-C0B3-C4CD4F0FB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97724-171F-7E2B-63C9-2E7CEE39E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633C2-E2C3-8A9C-252D-D40565C7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349F7-DB7C-1AEA-95CD-469EE2B5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16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136B4-696B-2E61-A9F8-65E508C7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7CAE8-AB61-E207-4C33-47727B564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483E8-842F-A689-7BD5-0EBC03A07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15AFE-FAD1-5379-01B7-9121BF77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4D575-518D-F0A4-FF55-1C956D8A2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A28D6-756F-B4C3-0A73-A62612C2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366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B861-B512-FB81-9173-AF9FEF3B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A994E-2B19-30FD-F021-AC9C289CB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DC07A-6BB1-E55A-3226-F1C945798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BA2B5-69D4-AC91-31B3-1A519D112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D08CF-173F-11E5-56FC-847915D90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9E809E-AC84-A779-49FC-B5419BE0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EF36DE-CD92-5E74-82A2-1E8EC3A1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365C6-250C-493B-7438-7E8DA5F4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65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65F2-5723-622F-323F-F8C33ABE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F4ECFE-F338-54DC-91D8-3CC7C7D0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56879-9B54-32E8-11CB-71A04B669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E13D1-9777-8F86-1475-A7B53CEC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659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F8C85-598E-4EFC-0A30-ECCD03ED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174B07-F835-D54A-8B63-0D3C24A4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AC071-6550-5BAF-51A6-E8165A18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532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B1CF-EC1C-AA8B-B1C7-6173C8A7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C4DCA-4270-DB02-D400-43DE5499B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5CACF-751A-3765-31E6-D9871796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54E42-FC04-09BC-757B-13607B64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8A659-5524-D400-F2B9-54B4217D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100EC-6B15-7EBD-1C6F-551D2D44D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73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22B8-407C-42E2-38FF-0E363FAC6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828961-8391-121D-EAA0-3A2C59FEF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5EBD6-7CC4-AACA-FE99-810FED1D4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301B3-431F-C2BD-4C51-4DED195B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01002-22F7-CBCA-A69E-4F80BDA0A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49C15-DEAE-AF12-FD1D-BB7E5AA0A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51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7E6EE-BC0B-CC00-39B1-0F6744FA2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D2D44-927E-A7CE-8AA9-49BE6EA87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60739-C6D7-C41C-739F-25B187AFE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3DCF0-70EF-FE61-BD32-30AD70A94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FA59D-A0CB-98C3-26B7-91552388F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572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A78DB7-A49C-DA1E-B9E3-6C70E4BD3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BE4AE-A28C-C7D2-C76A-754BFD0AD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533AA-077B-B88D-BA52-22BC4FEB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7CA1D-7675-5D4C-688D-1B4EDB35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2A184-D4F0-B833-1824-E086BCE86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89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703E7D-2405-4B34-F090-42E8DEA7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30D0F-0B7C-E1BC-971B-8F069F0C9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F8CFD-6B92-C935-0EB5-3AB138E94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71B13-BB7D-4B6E-82D9-7B7CF9DDEEB6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2BB4A-5033-0009-D8AE-97267E34B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34549-D3CE-50B7-18A6-0E02AA98D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052A1-A595-4308-B80C-DA40C12E7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225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reddit.com/r/pics/comments/b7amr/horse_chasing_a_dog_in_the_snow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832960-E4B3-6A09-3DF5-D56A4B40D5A3}"/>
              </a:ext>
            </a:extLst>
          </p:cNvPr>
          <p:cNvSpPr txBox="1"/>
          <p:nvPr/>
        </p:nvSpPr>
        <p:spPr>
          <a:xfrm>
            <a:off x="492814" y="2272626"/>
            <a:ext cx="11057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Diagnostic Probe Sets with </a:t>
            </a:r>
            <a:r>
              <a:rPr lang="en-GB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minimal test-time compute 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Multimodal Reliability</a:t>
            </a:r>
            <a:endParaRPr lang="en-IN" sz="24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A593CB-0037-BAEE-CFD1-D9F7F17BEDCD}"/>
              </a:ext>
            </a:extLst>
          </p:cNvPr>
          <p:cNvSpPr txBox="1"/>
          <p:nvPr/>
        </p:nvSpPr>
        <p:spPr>
          <a:xfrm>
            <a:off x="3841475" y="1292087"/>
            <a:ext cx="34737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en-GB" sz="6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endParaRPr lang="en-IN" sz="6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D56E8-BCBA-7486-562A-6B2F2B47B9BF}"/>
              </a:ext>
            </a:extLst>
          </p:cNvPr>
          <p:cNvSpPr txBox="1"/>
          <p:nvPr/>
        </p:nvSpPr>
        <p:spPr>
          <a:xfrm>
            <a:off x="3752023" y="4504064"/>
            <a:ext cx="5958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Target - ICLR 2027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8AC2B-EE75-230E-A265-E1025311EA74}"/>
              </a:ext>
            </a:extLst>
          </p:cNvPr>
          <p:cNvSpPr txBox="1"/>
          <p:nvPr/>
        </p:nvSpPr>
        <p:spPr>
          <a:xfrm>
            <a:off x="9463867" y="5623103"/>
            <a:ext cx="2440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  <a:br>
              <a:rPr lang="en-IN" dirty="0"/>
            </a:br>
            <a:r>
              <a:rPr lang="en-IN" b="1" dirty="0"/>
              <a:t>Aman Prakash</a:t>
            </a:r>
          </a:p>
        </p:txBody>
      </p:sp>
    </p:spTree>
    <p:extLst>
      <p:ext uri="{BB962C8B-B14F-4D97-AF65-F5344CB8AC3E}">
        <p14:creationId xmlns:p14="http://schemas.microsoft.com/office/powerpoint/2010/main" val="232639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80544E-0835-6D59-DBC8-0CFC92868374}"/>
              </a:ext>
            </a:extLst>
          </p:cNvPr>
          <p:cNvSpPr txBox="1"/>
          <p:nvPr/>
        </p:nvSpPr>
        <p:spPr>
          <a:xfrm>
            <a:off x="1477411" y="876445"/>
            <a:ext cx="897876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pPr>
              <a:buNone/>
            </a:pPr>
            <a:br>
              <a:rPr lang="en-IN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How much evidence should we collect before deciding why an MLLM failed?</a:t>
            </a:r>
          </a:p>
          <a:p>
            <a:pPr>
              <a:buNone/>
            </a:pPr>
            <a:br>
              <a:rPr lang="en-IN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164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83FB4-575C-30C3-3F3E-998F101E7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8F520B-DB8B-D610-E1DB-71C189CFF90C}"/>
              </a:ext>
            </a:extLst>
          </p:cNvPr>
          <p:cNvSpPr txBox="1"/>
          <p:nvPr/>
        </p:nvSpPr>
        <p:spPr>
          <a:xfrm>
            <a:off x="1477411" y="876445"/>
            <a:ext cx="897876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pPr>
              <a:buNone/>
            </a:pPr>
            <a:br>
              <a:rPr lang="en-IN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How much evidence should we collect before deciding why an MLLM failed?</a:t>
            </a:r>
          </a:p>
          <a:p>
            <a:pPr>
              <a:buNone/>
            </a:pPr>
            <a:br>
              <a:rPr lang="en-IN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9A484-D818-F3F8-4511-2000F8D659EF}"/>
              </a:ext>
            </a:extLst>
          </p:cNvPr>
          <p:cNvSpPr txBox="1"/>
          <p:nvPr/>
        </p:nvSpPr>
        <p:spPr>
          <a:xfrm>
            <a:off x="1512198" y="3806831"/>
            <a:ext cx="897876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Doctor’s Analogy</a:t>
            </a:r>
            <a:br>
              <a:rPr lang="en-IN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similar to asking how much evidence a doctor needs before diagnosing a disease. </a:t>
            </a:r>
            <a:br>
              <a:rPr lang="en-IN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 Common Cold </a:t>
            </a:r>
            <a:endParaRPr lang="en-IN" sz="3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45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915E4B-C309-A9B0-801E-9DD50E863148}"/>
              </a:ext>
            </a:extLst>
          </p:cNvPr>
          <p:cNvSpPr txBox="1"/>
          <p:nvPr/>
        </p:nvSpPr>
        <p:spPr>
          <a:xfrm>
            <a:off x="894521" y="561561"/>
            <a:ext cx="10565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Diagnosing MLLM failures is like diagnosing a medical patient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0C496-2DE1-292D-2BDE-8EC0BD36B12A}"/>
              </a:ext>
            </a:extLst>
          </p:cNvPr>
          <p:cNvSpPr txBox="1"/>
          <p:nvPr/>
        </p:nvSpPr>
        <p:spPr>
          <a:xfrm>
            <a:off x="1396448" y="2047460"/>
            <a:ext cx="8940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Case 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Full Body Test</a:t>
            </a:r>
          </a:p>
          <a:p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           Patient → Symptoms → Full body test → Stop → Return diagnosis</a:t>
            </a:r>
          </a:p>
          <a:p>
            <a:r>
              <a:rPr lang="en-I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100% effective                               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Costly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20940-B64E-44EB-86C2-227A9EEBEFBE}"/>
              </a:ext>
            </a:extLst>
          </p:cNvPr>
          <p:cNvSpPr txBox="1"/>
          <p:nvPr/>
        </p:nvSpPr>
        <p:spPr>
          <a:xfrm>
            <a:off x="1247361" y="1480930"/>
            <a:ext cx="8940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doctor can diagnose a patient’s disease in the following ways:</a:t>
            </a:r>
          </a:p>
        </p:txBody>
      </p:sp>
    </p:spTree>
    <p:extLst>
      <p:ext uri="{BB962C8B-B14F-4D97-AF65-F5344CB8AC3E}">
        <p14:creationId xmlns:p14="http://schemas.microsoft.com/office/powerpoint/2010/main" val="410229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86C3D-02A5-A14C-FD6D-8DEF6F48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E5C2A1-DD5F-A18A-C4CF-BDD421DB853A}"/>
              </a:ext>
            </a:extLst>
          </p:cNvPr>
          <p:cNvSpPr txBox="1"/>
          <p:nvPr/>
        </p:nvSpPr>
        <p:spPr>
          <a:xfrm>
            <a:off x="894521" y="561561"/>
            <a:ext cx="10565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Diagnosing MLLM failures is like diagnosing a medical patient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5886EC-87C8-C5BC-C13F-92133225C85D}"/>
              </a:ext>
            </a:extLst>
          </p:cNvPr>
          <p:cNvSpPr txBox="1"/>
          <p:nvPr/>
        </p:nvSpPr>
        <p:spPr>
          <a:xfrm>
            <a:off x="1396448" y="2047460"/>
            <a:ext cx="8940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Case 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Full Body Test</a:t>
            </a:r>
          </a:p>
          <a:p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           Patient → Symptoms → Full body test → Stop → Return diagnosis</a:t>
            </a:r>
          </a:p>
          <a:p>
            <a:r>
              <a:rPr lang="en-I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100% effective                               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Costly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ACD96-39BC-4277-C2E0-ED1990ED78BB}"/>
              </a:ext>
            </a:extLst>
          </p:cNvPr>
          <p:cNvSpPr txBox="1"/>
          <p:nvPr/>
        </p:nvSpPr>
        <p:spPr>
          <a:xfrm>
            <a:off x="1381539" y="3538330"/>
            <a:ext cx="93477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Case II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Adaptive Testing</a:t>
            </a:r>
          </a:p>
          <a:p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           Patient → Symptoms →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Order tests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IN" i="1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&amp; collect evidence →Order   </a:t>
            </a:r>
            <a:b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           more tests → </a:t>
            </a:r>
            <a:r>
              <a:rPr lang="en-IN" i="1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&amp; collect evidence → Stop → Return diagnosis</a:t>
            </a:r>
          </a:p>
          <a:p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            Pros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Cheap                                            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Less effective than a full-body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D05FD-1B7C-42BF-D0C3-57017D93B3ED}"/>
              </a:ext>
            </a:extLst>
          </p:cNvPr>
          <p:cNvSpPr txBox="1"/>
          <p:nvPr/>
        </p:nvSpPr>
        <p:spPr>
          <a:xfrm>
            <a:off x="1247361" y="1480930"/>
            <a:ext cx="8940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doctor can diagnose a patient’s disease in the following ways:</a:t>
            </a:r>
          </a:p>
        </p:txBody>
      </p:sp>
    </p:spTree>
    <p:extLst>
      <p:ext uri="{BB962C8B-B14F-4D97-AF65-F5344CB8AC3E}">
        <p14:creationId xmlns:p14="http://schemas.microsoft.com/office/powerpoint/2010/main" val="533220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CF1E-132F-443E-3E67-2EB05B5E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DE848C-64C8-9706-223D-E6E4B178A367}"/>
              </a:ext>
            </a:extLst>
          </p:cNvPr>
          <p:cNvSpPr txBox="1"/>
          <p:nvPr/>
        </p:nvSpPr>
        <p:spPr>
          <a:xfrm>
            <a:off x="894521" y="561561"/>
            <a:ext cx="10565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Diagnosing MLLM failures is like diagnosing a medical patient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031AA-374D-CAA5-0776-BC1616775691}"/>
              </a:ext>
            </a:extLst>
          </p:cNvPr>
          <p:cNvSpPr txBox="1"/>
          <p:nvPr/>
        </p:nvSpPr>
        <p:spPr>
          <a:xfrm>
            <a:off x="1396448" y="2047460"/>
            <a:ext cx="8940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Case 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Full Body Test</a:t>
            </a:r>
          </a:p>
          <a:p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           Patient → Symptoms → Full body test → Stop → Return diagnosis</a:t>
            </a:r>
          </a:p>
          <a:p>
            <a:r>
              <a:rPr lang="en-I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100% effective                               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Costly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49E25-C10A-B048-7A43-70313E934E97}"/>
              </a:ext>
            </a:extLst>
          </p:cNvPr>
          <p:cNvSpPr txBox="1"/>
          <p:nvPr/>
        </p:nvSpPr>
        <p:spPr>
          <a:xfrm>
            <a:off x="1381539" y="3538330"/>
            <a:ext cx="93477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Case II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Adaptive Testing</a:t>
            </a:r>
          </a:p>
          <a:p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           Patient → Symptoms →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Order tests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IN" i="1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&amp; collect evidence →Order   </a:t>
            </a:r>
            <a:b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           more tests → </a:t>
            </a:r>
            <a:r>
              <a:rPr lang="en-IN" i="1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&amp; collect evidence → Stop → Return diagnosis</a:t>
            </a:r>
          </a:p>
          <a:p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            Pros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Cheap                                            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Less effective than a full-body 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8B705-2B73-47D0-52EF-B76D83069FB5}"/>
              </a:ext>
            </a:extLst>
          </p:cNvPr>
          <p:cNvSpPr txBox="1"/>
          <p:nvPr/>
        </p:nvSpPr>
        <p:spPr>
          <a:xfrm>
            <a:off x="1381538" y="5059018"/>
            <a:ext cx="902473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Case III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No Testing</a:t>
            </a:r>
          </a:p>
          <a:p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            Patient → Symptoms → No need of test; doctor </a:t>
            </a:r>
            <a:r>
              <a:rPr lang="en-IN" i="1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→ Return diagnosis</a:t>
            </a:r>
          </a:p>
          <a:p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             Pros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No cost                                          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: Very few similar cases exist</a:t>
            </a:r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F71205-41D3-0F8C-6722-0D43986916D7}"/>
              </a:ext>
            </a:extLst>
          </p:cNvPr>
          <p:cNvSpPr txBox="1"/>
          <p:nvPr/>
        </p:nvSpPr>
        <p:spPr>
          <a:xfrm>
            <a:off x="1247361" y="1480930"/>
            <a:ext cx="8940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doctor can diagnose a patient’s disease in the following ways:</a:t>
            </a:r>
          </a:p>
        </p:txBody>
      </p:sp>
    </p:spTree>
    <p:extLst>
      <p:ext uri="{BB962C8B-B14F-4D97-AF65-F5344CB8AC3E}">
        <p14:creationId xmlns:p14="http://schemas.microsoft.com/office/powerpoint/2010/main" val="169007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DB628-1D50-B94F-01EE-1CB1CF67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5E55E3-9ADA-EB16-3D27-C9120ABED97B}"/>
              </a:ext>
            </a:extLst>
          </p:cNvPr>
          <p:cNvSpPr txBox="1"/>
          <p:nvPr/>
        </p:nvSpPr>
        <p:spPr>
          <a:xfrm>
            <a:off x="2549387" y="213691"/>
            <a:ext cx="61125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Relation of 3 cases with MLLM failure diagnosis using e.g.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230A74-8CCC-16E2-F893-980D66F27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6078" y="2046497"/>
            <a:ext cx="2476192" cy="25637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8D5F45-BEE9-2F6E-5F41-C9AD5F9C3658}"/>
              </a:ext>
            </a:extLst>
          </p:cNvPr>
          <p:cNvSpPr txBox="1"/>
          <p:nvPr/>
        </p:nvSpPr>
        <p:spPr>
          <a:xfrm>
            <a:off x="1620077" y="4684877"/>
            <a:ext cx="2047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</a:t>
            </a:r>
            <a:r>
              <a:rPr lang="en-IN" dirty="0">
                <a:hlinkClick r:id="rId4"/>
              </a:rPr>
              <a:t>Reddit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538D5-55D3-A5C2-4D61-19361E40672B}"/>
              </a:ext>
            </a:extLst>
          </p:cNvPr>
          <p:cNvSpPr txBox="1"/>
          <p:nvPr/>
        </p:nvSpPr>
        <p:spPr>
          <a:xfrm>
            <a:off x="323022" y="342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64817-7FE0-46D9-DFBB-888BA24B3BB9}"/>
              </a:ext>
            </a:extLst>
          </p:cNvPr>
          <p:cNvSpPr txBox="1"/>
          <p:nvPr/>
        </p:nvSpPr>
        <p:spPr>
          <a:xfrm>
            <a:off x="4846568" y="1763231"/>
            <a:ext cx="60951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blurry image of a dog near a horse</a:t>
            </a:r>
          </a:p>
          <a:p>
            <a:pPr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Question: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“What animal is jumping?”</a:t>
            </a:r>
          </a:p>
          <a:p>
            <a:pPr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Model: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“Dog”</a:t>
            </a:r>
          </a:p>
          <a:p>
            <a:pPr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Ground Truth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“Horse”</a:t>
            </a:r>
          </a:p>
          <a:p>
            <a:pPr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Failure: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Multiple reasons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1. </a:t>
            </a:r>
            <a:r>
              <a:rPr lang="en-IN" dirty="0"/>
              <a:t>Visual issue (image unclear)</a:t>
            </a:r>
            <a:br>
              <a:rPr lang="en-IN" dirty="0"/>
            </a:br>
            <a:r>
              <a:rPr lang="en-IN" dirty="0"/>
              <a:t>                    2. Language prior (“dog” more common in the</a:t>
            </a:r>
            <a:br>
              <a:rPr lang="en-IN" dirty="0"/>
            </a:br>
            <a:r>
              <a:rPr lang="en-IN" dirty="0"/>
              <a:t>                          training dataset )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98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1DC71-1D22-26EA-6150-CF9523B4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1D4336-92B5-F079-B8C8-187635AA283D}"/>
              </a:ext>
            </a:extLst>
          </p:cNvPr>
          <p:cNvSpPr txBox="1"/>
          <p:nvPr/>
        </p:nvSpPr>
        <p:spPr>
          <a:xfrm>
            <a:off x="884585" y="-528355"/>
            <a:ext cx="11221276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Case I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Full Probe test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(analogy “Full Body Test”)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I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We blindly do 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all possible probe 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actions (visual probe, relation probe, etc)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Case II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Adaptive Testing </a:t>
            </a:r>
          </a:p>
          <a:p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</a:p>
          <a:p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</a:p>
          <a:p>
            <a:r>
              <a:rPr lang="en-IN" sz="2400" dirty="0"/>
              <a:t>                    </a:t>
            </a:r>
            <a:r>
              <a:rPr lang="en-IN" sz="1600" dirty="0"/>
              <a:t>Probe 1 → remove image, </a:t>
            </a:r>
            <a:r>
              <a:rPr lang="en-IN" sz="1600" i="1" dirty="0"/>
              <a:t>then</a:t>
            </a:r>
            <a:r>
              <a:rPr lang="en-IN" sz="1600" dirty="0"/>
              <a:t> next probe</a:t>
            </a:r>
            <a:br>
              <a:rPr lang="en-IN" sz="1600" dirty="0"/>
            </a:br>
            <a:r>
              <a:rPr lang="en-IN" sz="1600" dirty="0"/>
              <a:t>                              Probe 2 → relation test, </a:t>
            </a:r>
            <a:r>
              <a:rPr lang="en-IN" sz="1600" i="1" dirty="0"/>
              <a:t>then</a:t>
            </a:r>
            <a:r>
              <a:rPr lang="en-IN" sz="1600" dirty="0"/>
              <a:t> next probe</a:t>
            </a:r>
            <a:br>
              <a:rPr lang="en-IN" sz="1600" dirty="0"/>
            </a:br>
            <a:r>
              <a:rPr lang="en-IN" sz="1600" dirty="0"/>
              <a:t>                              Probe 3 → grounding re-check  &amp;    STOP</a:t>
            </a:r>
          </a:p>
          <a:p>
            <a:endParaRPr lang="en-IN" sz="24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Case III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No Testing</a:t>
            </a:r>
          </a:p>
          <a:p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Not applicable in this case</a:t>
            </a:r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FD784C-B363-21B5-742B-73CDBAE9E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530" y="2240566"/>
            <a:ext cx="7080983" cy="192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5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DEFF1D-EB9E-630A-EAEF-9F322049D397}"/>
              </a:ext>
            </a:extLst>
          </p:cNvPr>
          <p:cNvSpPr txBox="1"/>
          <p:nvPr/>
        </p:nvSpPr>
        <p:spPr>
          <a:xfrm>
            <a:off x="1138031" y="636105"/>
            <a:ext cx="101428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Problems with existing diagnosis in MLLMs</a:t>
            </a:r>
            <a:endParaRPr lang="en-IN" b="1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34EB5-ECC4-247B-1006-2564920BF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217" y="1426192"/>
            <a:ext cx="5035924" cy="51760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50E8B6-0F3F-4A00-EC95-D7D4B7069365}"/>
              </a:ext>
            </a:extLst>
          </p:cNvPr>
          <p:cNvSpPr txBox="1"/>
          <p:nvPr/>
        </p:nvSpPr>
        <p:spPr>
          <a:xfrm>
            <a:off x="5011985" y="2105209"/>
            <a:ext cx="1368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Visual Fragility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FE167-F1C9-C56F-3C3C-DD0A5169B1AD}"/>
              </a:ext>
            </a:extLst>
          </p:cNvPr>
          <p:cNvSpPr txBox="1"/>
          <p:nvPr/>
        </p:nvSpPr>
        <p:spPr>
          <a:xfrm>
            <a:off x="3702423" y="4425577"/>
            <a:ext cx="1368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5273AC-1EA9-1FBB-D529-8BD05C6532AF}"/>
              </a:ext>
            </a:extLst>
          </p:cNvPr>
          <p:cNvSpPr txBox="1"/>
          <p:nvPr/>
        </p:nvSpPr>
        <p:spPr>
          <a:xfrm>
            <a:off x="6436661" y="4425577"/>
            <a:ext cx="1368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Alignment 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Relation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4F0489-DBC4-FC2F-E513-763F60DADB5D}"/>
              </a:ext>
            </a:extLst>
          </p:cNvPr>
          <p:cNvCxnSpPr/>
          <p:nvPr/>
        </p:nvCxnSpPr>
        <p:spPr>
          <a:xfrm flipH="1">
            <a:off x="5567082" y="2012674"/>
            <a:ext cx="2707244" cy="2082248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13DFC87-1AB7-DDC9-98A3-3D1C7C092B03}"/>
              </a:ext>
            </a:extLst>
          </p:cNvPr>
          <p:cNvSpPr txBox="1"/>
          <p:nvPr/>
        </p:nvSpPr>
        <p:spPr>
          <a:xfrm>
            <a:off x="8398564" y="1898374"/>
            <a:ext cx="270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Entangled  Symptoms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C668EC-5445-0046-18B6-F6E22C4F4AEB}"/>
              </a:ext>
            </a:extLst>
          </p:cNvPr>
          <p:cNvSpPr txBox="1"/>
          <p:nvPr/>
        </p:nvSpPr>
        <p:spPr>
          <a:xfrm>
            <a:off x="8398564" y="2267706"/>
            <a:ext cx="3329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e.g. A visual illusion triggering a language bias </a:t>
            </a:r>
          </a:p>
        </p:txBody>
      </p:sp>
    </p:spTree>
    <p:extLst>
      <p:ext uri="{BB962C8B-B14F-4D97-AF65-F5344CB8AC3E}">
        <p14:creationId xmlns:p14="http://schemas.microsoft.com/office/powerpoint/2010/main" val="31312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CD51F-6580-14B8-8076-841D62A4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A90760-D73C-35B1-B1DC-E95C995B7687}"/>
              </a:ext>
            </a:extLst>
          </p:cNvPr>
          <p:cNvSpPr txBox="1"/>
          <p:nvPr/>
        </p:nvSpPr>
        <p:spPr>
          <a:xfrm>
            <a:off x="1192697" y="1282653"/>
            <a:ext cx="101975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highlight>
                  <a:srgbClr val="FFFF00"/>
                </a:highlight>
              </a:rPr>
              <a:t>RQ 1</a:t>
            </a:r>
            <a:r>
              <a:rPr lang="en-IN" sz="2800" dirty="0"/>
              <a:t>: Probe Efficiency</a:t>
            </a:r>
          </a:p>
          <a:p>
            <a:endParaRPr lang="en-IN" sz="2800" dirty="0"/>
          </a:p>
          <a:p>
            <a:r>
              <a:rPr lang="en-IN" sz="2800" dirty="0"/>
              <a:t>Can we recover most diagnostic quality using only a few probes at a fraction of the cost?</a:t>
            </a:r>
          </a:p>
        </p:txBody>
      </p:sp>
    </p:spTree>
    <p:extLst>
      <p:ext uri="{BB962C8B-B14F-4D97-AF65-F5344CB8AC3E}">
        <p14:creationId xmlns:p14="http://schemas.microsoft.com/office/powerpoint/2010/main" val="3205885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3B1959-08F0-94D5-7C43-B0180A7DE07E}"/>
              </a:ext>
            </a:extLst>
          </p:cNvPr>
          <p:cNvSpPr txBox="1"/>
          <p:nvPr/>
        </p:nvSpPr>
        <p:spPr>
          <a:xfrm>
            <a:off x="1192697" y="1282653"/>
            <a:ext cx="1019754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highlight>
                  <a:srgbClr val="FFFF00"/>
                </a:highlight>
              </a:rPr>
              <a:t>RQ 2</a:t>
            </a:r>
            <a:r>
              <a:rPr lang="en-IN" sz="2800" dirty="0"/>
              <a:t>: Probe Adaptivity</a:t>
            </a:r>
          </a:p>
          <a:p>
            <a:endParaRPr lang="en-IN" sz="2800" dirty="0"/>
          </a:p>
          <a:p>
            <a:r>
              <a:rPr lang="en-IN" sz="2800" dirty="0"/>
              <a:t>Can adaptive probe selection outperform fixed probe schedules?</a:t>
            </a:r>
          </a:p>
        </p:txBody>
      </p:sp>
    </p:spTree>
    <p:extLst>
      <p:ext uri="{BB962C8B-B14F-4D97-AF65-F5344CB8AC3E}">
        <p14:creationId xmlns:p14="http://schemas.microsoft.com/office/powerpoint/2010/main" val="616436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2F09-8F4A-43DD-88BD-8BC17564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215EEF-1BA0-C10C-9142-8BEB3A409225}"/>
              </a:ext>
            </a:extLst>
          </p:cNvPr>
          <p:cNvSpPr txBox="1"/>
          <p:nvPr/>
        </p:nvSpPr>
        <p:spPr>
          <a:xfrm>
            <a:off x="1192697" y="1282653"/>
            <a:ext cx="101975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highlight>
                  <a:srgbClr val="FFFF00"/>
                </a:highlight>
              </a:rPr>
              <a:t>RQ 3</a:t>
            </a:r>
            <a:r>
              <a:rPr lang="en-IN" sz="2800" dirty="0"/>
              <a:t>: Generalization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r>
              <a:rPr lang="en-IN" sz="2800" dirty="0"/>
              <a:t>Does the learned policy (decision rule to selectively run probe) on one model/dataset generalize to unseen MLLMs and datasets?</a:t>
            </a:r>
          </a:p>
        </p:txBody>
      </p:sp>
    </p:spTree>
    <p:extLst>
      <p:ext uri="{BB962C8B-B14F-4D97-AF65-F5344CB8AC3E}">
        <p14:creationId xmlns:p14="http://schemas.microsoft.com/office/powerpoint/2010/main" val="1315424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CBB210-F145-DCE1-BE8D-4A6D4AFEB295}"/>
              </a:ext>
            </a:extLst>
          </p:cNvPr>
          <p:cNvSpPr txBox="1"/>
          <p:nvPr/>
        </p:nvSpPr>
        <p:spPr>
          <a:xfrm>
            <a:off x="516836" y="626166"/>
            <a:ext cx="11300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Core ML 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contribution of </a:t>
            </a:r>
            <a:r>
              <a:rPr lang="en-GB" sz="32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en-GB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for ICLR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17747-2106-DF74-9B3C-491FF102007A}"/>
              </a:ext>
            </a:extLst>
          </p:cNvPr>
          <p:cNvSpPr txBox="1"/>
          <p:nvPr/>
        </p:nvSpPr>
        <p:spPr>
          <a:xfrm>
            <a:off x="705679" y="1759226"/>
            <a:ext cx="105354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We aim to build a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policy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for the active selection of probes in order to predict the failure source.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209D14-A1B5-0847-2C62-B8497310E099}"/>
                  </a:ext>
                </a:extLst>
              </p:cNvPr>
              <p:cNvSpPr txBox="1"/>
              <p:nvPr/>
            </p:nvSpPr>
            <p:spPr>
              <a:xfrm>
                <a:off x="616227" y="2768047"/>
                <a:ext cx="10704442" cy="94961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Value of Information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𝑉𝑂𝐼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) </a:t>
                </a:r>
                <a:r>
                  <a:rPr lang="en-IN">
                    <a:latin typeface="Arial" panose="020B0604020202020204" pitchFamily="34" charset="0"/>
                    <a:cs typeface="Arial" panose="020B0604020202020204" pitchFamily="34" charset="0"/>
                  </a:rPr>
                  <a:t>= Expected Gain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–  Probe Cost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209D14-A1B5-0847-2C62-B8497310E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27" y="2768047"/>
                <a:ext cx="10704442" cy="949619"/>
              </a:xfrm>
              <a:prstGeom prst="rect">
                <a:avLst/>
              </a:prstGeom>
              <a:blipFill>
                <a:blip r:embed="rId2"/>
                <a:stretch>
                  <a:fillRect b="-5696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9D2F83-405C-873A-517D-3F2B6A98A065}"/>
              </a:ext>
            </a:extLst>
          </p:cNvPr>
          <p:cNvSpPr txBox="1"/>
          <p:nvPr/>
        </p:nvSpPr>
        <p:spPr>
          <a:xfrm>
            <a:off x="621197" y="2773017"/>
            <a:ext cx="10535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Policy:</a:t>
            </a:r>
            <a:r>
              <a:rPr lang="en-GB" sz="24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ProActive</a:t>
            </a: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25B09F-3A70-6CEE-A439-017482DB6B4F}"/>
                  </a:ext>
                </a:extLst>
              </p:cNvPr>
              <p:cNvSpPr txBox="1"/>
              <p:nvPr/>
            </p:nvSpPr>
            <p:spPr>
              <a:xfrm>
                <a:off x="621197" y="3791778"/>
                <a:ext cx="10749168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Decision Rule: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𝑉𝑂𝐼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&gt; 0 then acquire probe,  else STOP</a:t>
                </a:r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25B09F-3A70-6CEE-A439-017482DB6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97" y="3791778"/>
                <a:ext cx="10749168" cy="369332"/>
              </a:xfrm>
              <a:prstGeom prst="rect">
                <a:avLst/>
              </a:prstGeom>
              <a:blipFill>
                <a:blip r:embed="rId3"/>
                <a:stretch>
                  <a:fillRect t="-6349" b="-22222"/>
                </a:stretch>
              </a:blipFill>
              <a:ln>
                <a:solidFill>
                  <a:schemeClr val="accent3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FAEDD9-B10C-8AD0-DD6C-4C894493A8C5}"/>
                  </a:ext>
                </a:extLst>
              </p:cNvPr>
              <p:cNvSpPr txBox="1"/>
              <p:nvPr/>
            </p:nvSpPr>
            <p:spPr>
              <a:xfrm>
                <a:off x="621197" y="4447761"/>
                <a:ext cx="5474803" cy="203132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Quantify Expected Gain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of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state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`</a:t>
                </a:r>
                <a:r>
                  <a:rPr lang="en-IN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t`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probe `</a:t>
                </a:r>
                <a:r>
                  <a:rPr lang="en-IN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a`</a:t>
                </a:r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:br>
                  <a:rPr lang="en-IN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−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Current predictive entropy over failure sources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sup>
                    </m:sSubSup>
                    <m:r>
                      <a:rPr lang="en-IN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 after observing after failure source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r>
                      <a:rPr lang="en-IN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Expectation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FAEDD9-B10C-8AD0-DD6C-4C894493A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97" y="4447761"/>
                <a:ext cx="5474803" cy="2031325"/>
              </a:xfrm>
              <a:prstGeom prst="rect">
                <a:avLst/>
              </a:prstGeom>
              <a:blipFill>
                <a:blip r:embed="rId4"/>
                <a:stretch>
                  <a:fillRect l="-889" t="-1493" r="-667" b="-3582"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AAD6BC-6E1F-BADA-48BD-530619E55D9F}"/>
                  </a:ext>
                </a:extLst>
              </p:cNvPr>
              <p:cNvSpPr txBox="1"/>
              <p:nvPr/>
            </p:nvSpPr>
            <p:spPr>
              <a:xfrm>
                <a:off x="6266623" y="4447761"/>
                <a:ext cx="5103742" cy="230832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Quantify Probe Cost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= # of forward passes for probe a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e.g. Blank Probe =1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Alternatively,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hardware-dependent probe cost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using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GPU time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(e.g. Probe took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0.2s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on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H200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to execute)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AAD6BC-6E1F-BADA-48BD-530619E55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623" y="4447761"/>
                <a:ext cx="5103742" cy="2308324"/>
              </a:xfrm>
              <a:prstGeom prst="rect">
                <a:avLst/>
              </a:prstGeom>
              <a:blipFill>
                <a:blip r:embed="rId5"/>
                <a:stretch>
                  <a:fillRect l="-954" t="-1316" r="-358" b="-3158"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811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FB1ABE-24E5-8589-615A-B3637693421C}"/>
                  </a:ext>
                </a:extLst>
              </p:cNvPr>
              <p:cNvSpPr txBox="1"/>
              <p:nvPr/>
            </p:nvSpPr>
            <p:spPr>
              <a:xfrm>
                <a:off x="1421296" y="706142"/>
                <a:ext cx="8552622" cy="6032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What is the </a:t>
                </a:r>
                <a:r>
                  <a:rPr lang="en-IN" sz="2800" b="1" dirty="0">
                    <a:highlight>
                      <a:srgbClr val="FFFF0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input to the policy</a:t>
                </a:r>
                <a:r>
                  <a:rPr lang="en-IN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we start with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Image + Question →  MLLM answers (“Cat”)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Now we extract </a:t>
                </a:r>
                <a:r>
                  <a:rPr lang="en-IN" dirty="0">
                    <a:highlight>
                      <a:srgbClr val="FFFF0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cheap features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r>
                  <a:rPr lang="en-IN" sz="1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e.g. </a:t>
                </a:r>
                <a:r>
                  <a:rPr lang="en-IN" sz="1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LLM confidence </a:t>
                </a:r>
                <a:r>
                  <a:rPr lang="en-IN" sz="1700" dirty="0">
                    <a:latin typeface="Arial" panose="020B0604020202020204" pitchFamily="34" charset="0"/>
                    <a:cs typeface="Arial" panose="020B0604020202020204" pitchFamily="34" charset="0"/>
                  </a:rPr>
                  <a:t>= 0.82, </a:t>
                </a:r>
                <a:r>
                  <a:rPr lang="en-IN" sz="1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Answer length </a:t>
                </a:r>
                <a:r>
                  <a:rPr lang="en-IN" sz="1700" dirty="0">
                    <a:latin typeface="Arial" panose="020B0604020202020204" pitchFamily="34" charset="0"/>
                    <a:cs typeface="Arial" panose="020B0604020202020204" pitchFamily="34" charset="0"/>
                  </a:rPr>
                  <a:t>= 1, </a:t>
                </a:r>
                <a:r>
                  <a:rPr lang="en-IN" sz="1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en-IN" sz="17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0.35, </a:t>
                </a:r>
                <a:br>
                  <a:rPr lang="en-IN" sz="17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IN" sz="1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Question type </a:t>
                </a:r>
                <a:r>
                  <a:rPr lang="en-IN" sz="1700" dirty="0">
                    <a:latin typeface="Arial" panose="020B0604020202020204" pitchFamily="34" charset="0"/>
                    <a:cs typeface="Arial" panose="020B0604020202020204" pitchFamily="34" charset="0"/>
                  </a:rPr>
                  <a:t>= Object Recognition, </a:t>
                </a:r>
                <a:r>
                  <a:rPr lang="en-IN" sz="17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Image quality </a:t>
                </a:r>
                <a:r>
                  <a:rPr lang="en-IN" sz="1700" dirty="0">
                    <a:latin typeface="Arial" panose="020B0604020202020204" pitchFamily="34" charset="0"/>
                    <a:cs typeface="Arial" panose="020B0604020202020204" pitchFamily="34" charset="0"/>
                  </a:rPr>
                  <a:t>= 0.91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These become the initial diagnostic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IN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​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we then run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Blank probe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and now we obtain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Answer changed? = Yes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Confidence drop = 0.45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Semantic similarity = 0.21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These are appended to the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​</a:t>
                </a:r>
              </a:p>
              <a:p>
                <a:r>
                  <a:rPr lang="en-IN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Every time you execute a probe, the state becomes richer.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FB1ABE-24E5-8589-615A-B36376934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296" y="706142"/>
                <a:ext cx="8552622" cy="6032421"/>
              </a:xfrm>
              <a:prstGeom prst="rect">
                <a:avLst/>
              </a:prstGeom>
              <a:blipFill>
                <a:blip r:embed="rId2"/>
                <a:stretch>
                  <a:fillRect l="-1426" t="-11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111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0A06B7-2B3A-0587-A9CC-C74BB41418B9}"/>
              </a:ext>
            </a:extLst>
          </p:cNvPr>
          <p:cNvSpPr txBox="1"/>
          <p:nvPr/>
        </p:nvSpPr>
        <p:spPr>
          <a:xfrm>
            <a:off x="1005094" y="760418"/>
            <a:ext cx="9972676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What does the </a:t>
            </a:r>
            <a:r>
              <a:rPr lang="en-IN" sz="2800" b="1" dirty="0">
                <a:highlight>
                  <a:srgbClr val="FFFF00"/>
                </a:highlight>
              </a:rPr>
              <a:t>policy output</a:t>
            </a:r>
            <a:r>
              <a:rPr lang="en-IN" sz="2800" b="1" dirty="0"/>
              <a:t>?</a:t>
            </a:r>
          </a:p>
          <a:p>
            <a:endParaRPr lang="en-IN" b="1" dirty="0"/>
          </a:p>
          <a:p>
            <a:r>
              <a:rPr lang="en-IN" dirty="0"/>
              <a:t>The policy simply predicts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Blank Probe </a:t>
            </a:r>
            <a:r>
              <a:rPr lang="en-IN" dirty="0"/>
              <a:t>(i.e. replacing image with blank image during inference):  </a:t>
            </a:r>
            <a:r>
              <a:rPr lang="en-IN" b="1" dirty="0"/>
              <a:t>0.72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Grounding Probe </a:t>
            </a:r>
            <a:r>
              <a:rPr lang="en-IN" dirty="0"/>
              <a:t>(Asking MLLM again “Check again carefully”): 0.18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Relation Probe </a:t>
            </a:r>
            <a:r>
              <a:rPr lang="en-IN" dirty="0"/>
              <a:t>(“Replacing terms like left and right): 0.05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STOP</a:t>
            </a:r>
            <a:r>
              <a:rPr lang="en-IN" dirty="0"/>
              <a:t>: 0.05</a:t>
            </a:r>
          </a:p>
          <a:p>
            <a:endParaRPr lang="en-IN" dirty="0"/>
          </a:p>
          <a:p>
            <a:r>
              <a:rPr lang="en-IN" dirty="0"/>
              <a:t>Repeat Probe or Stop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52096-4700-2781-4141-4BBC1A18AEBF}"/>
              </a:ext>
            </a:extLst>
          </p:cNvPr>
          <p:cNvSpPr txBox="1"/>
          <p:nvPr/>
        </p:nvSpPr>
        <p:spPr>
          <a:xfrm>
            <a:off x="1005094" y="4602051"/>
            <a:ext cx="69623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Policy network can be:</a:t>
            </a:r>
            <a:br>
              <a:rPr lang="en-IN" dirty="0"/>
            </a:br>
            <a:r>
              <a:rPr lang="en-IN" dirty="0"/>
              <a:t>1. MLP (similar to AlphaGo)</a:t>
            </a:r>
          </a:p>
          <a:p>
            <a:r>
              <a:rPr lang="en-IN" dirty="0"/>
              <a:t>2. Small Transformer</a:t>
            </a:r>
          </a:p>
        </p:txBody>
      </p:sp>
    </p:spTree>
    <p:extLst>
      <p:ext uri="{BB962C8B-B14F-4D97-AF65-F5344CB8AC3E}">
        <p14:creationId xmlns:p14="http://schemas.microsoft.com/office/powerpoint/2010/main" val="2084622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56510E-F6A5-85D9-1ABC-D4FF125F3E3D}"/>
              </a:ext>
            </a:extLst>
          </p:cNvPr>
          <p:cNvSpPr txBox="1"/>
          <p:nvPr/>
        </p:nvSpPr>
        <p:spPr>
          <a:xfrm>
            <a:off x="1267240" y="665922"/>
            <a:ext cx="904460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Key Pillars of this study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Multimodal hallucination diagnosis</a:t>
            </a:r>
          </a:p>
          <a:p>
            <a:pPr marL="342900" indent="-342900"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Active feature acquisition</a:t>
            </a:r>
          </a:p>
          <a:p>
            <a:pPr marL="342900" indent="-342900"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Adaptive test-time compute, and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4.  Conformal/risk-controlled prediction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Risk control = “explicitly limiting how often the model is allowed to be wrong.”</a:t>
            </a:r>
          </a:p>
        </p:txBody>
      </p:sp>
    </p:spTree>
    <p:extLst>
      <p:ext uri="{BB962C8B-B14F-4D97-AF65-F5344CB8AC3E}">
        <p14:creationId xmlns:p14="http://schemas.microsoft.com/office/powerpoint/2010/main" val="100215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3704</TotalTime>
  <Words>966</Words>
  <Application>Microsoft Office PowerPoint</Application>
  <PresentationFormat>Widescreen</PresentationFormat>
  <Paragraphs>146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prakash</dc:creator>
  <cp:lastModifiedBy>aman prakash</cp:lastModifiedBy>
  <cp:revision>64</cp:revision>
  <dcterms:created xsi:type="dcterms:W3CDTF">2026-06-11T06:07:31Z</dcterms:created>
  <dcterms:modified xsi:type="dcterms:W3CDTF">2026-06-29T14:13:42Z</dcterms:modified>
</cp:coreProperties>
</file>
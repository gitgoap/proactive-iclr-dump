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2C7300-8186-4D31-8A76-DFCCDD235C26}">
  <a:tblStyle styleId="{912C7300-8186-4D31-8A76-DFCCDD235C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a2cad5f1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a2cad5f1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e9e3df34b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e9e3df34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d2657d67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d2657d67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e9e3df3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e9e3df3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e9e3df34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e9e3df34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e9e3df34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e9e3df34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e9e3df34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e9e3df34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e9e3df34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e9e3df34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e9e3df34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e9e3df34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e9e3df34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e9e3df34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e9e3df34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e9e3df34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e9e3df34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e9e3df34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e9e3df34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e9e3df34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d376677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d376677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d376677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6d376677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496b195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496b19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User-preference Alignment based Fine-tuning </a:t>
            </a:r>
            <a:endParaRPr b="1" sz="26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Associate Professor, DAU,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pic>
        <p:nvPicPr>
          <p:cNvPr id="101" name="Google Shape;1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963" y="1908325"/>
            <a:ext cx="21240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simply RL?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solidFill>
                  <a:srgbClr val="000000"/>
                </a:solidFill>
              </a:rPr>
              <a:t>Where does RL-FT stop?</a:t>
            </a:r>
            <a:endParaRPr i="1" sz="2320">
              <a:solidFill>
                <a:srgbClr val="FF0000"/>
              </a:solidFill>
              <a:highlight>
                <a:srgbClr val="D9EAD3"/>
              </a:highlight>
            </a:endParaRPr>
          </a:p>
        </p:txBody>
      </p:sp>
      <p:graphicFrame>
        <p:nvGraphicFramePr>
          <p:cNvPr id="112" name="Google Shape;112;p27"/>
          <p:cNvGraphicFramePr/>
          <p:nvPr/>
        </p:nvGraphicFramePr>
        <p:xfrm>
          <a:off x="2286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{912C7300-8186-4D31-8A76-DFCCDD235C26}</a:tableStyleId>
              </a:tblPr>
              <a:tblGrid>
                <a:gridCol w="2382450"/>
                <a:gridCol w="3761750"/>
                <a:gridCol w="253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Limitation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Cause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What can happen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Single-reference loss</a:t>
                      </a:r>
                      <a:r>
                        <a:rPr lang="en"/>
                        <a:t> – cross-entropy scores only one “gold” answer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Teacher-forcing treats any divergence from that answer as error, </a:t>
                      </a:r>
                      <a:r>
                        <a:rPr i="1" lang="en">
                          <a:highlight>
                            <a:srgbClr val="F4CCCC"/>
                          </a:highlight>
                        </a:rPr>
                        <a:t>even if several answers are equally good</a:t>
                      </a:r>
                      <a:endParaRPr i="1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Repetition</a:t>
                      </a:r>
                      <a:r>
                        <a:rPr lang="en"/>
                        <a:t> or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generic</a:t>
                      </a:r>
                      <a:r>
                        <a:rPr lang="en"/>
                        <a:t> answers;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no reward for richer explanations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Length bias &amp; brevity reward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Cross-entropy normalises by tokens, so </a:t>
                      </a:r>
                      <a:r>
                        <a:rPr i="1" lang="en">
                          <a:highlight>
                            <a:srgbClr val="F4CCCC"/>
                          </a:highlight>
                        </a:rPr>
                        <a:t>shorter replies get less loss</a:t>
                      </a:r>
                      <a:r>
                        <a:rPr lang="en"/>
                        <a:t> and dominate training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models often produce terse,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under-informative answers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Hard-coded style / tone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bakes a </a:t>
                      </a:r>
                      <a:r>
                        <a:rPr i="1" lang="en">
                          <a:highlight>
                            <a:srgbClr val="F4CCCC"/>
                          </a:highlight>
                        </a:rPr>
                        <a:t>fixed style</a:t>
                      </a:r>
                      <a:r>
                        <a:rPr lang="en"/>
                        <a:t> that mirrors the dataset; </a:t>
                      </a:r>
                      <a:r>
                        <a:rPr i="1" lang="en">
                          <a:solidFill>
                            <a:srgbClr val="FF0000"/>
                          </a:solidFill>
                        </a:rPr>
                        <a:t>changing tone means collecting new triples</a:t>
                      </a:r>
                      <a:endParaRPr i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can’t easily be made more formal, shorter, etc.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Limited long-horizon control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Token-level CE sees only one turn; </a:t>
                      </a:r>
                      <a:r>
                        <a:rPr i="1" lang="en">
                          <a:highlight>
                            <a:srgbClr val="F4CCCC"/>
                          </a:highlight>
                        </a:rPr>
                        <a:t>multi-turn goals receive no direct signal</a:t>
                      </a:r>
                      <a:r>
                        <a:rPr lang="en"/>
                        <a:t> ﻿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Incoherent or </a:t>
                      </a:r>
                      <a:r>
                        <a:rPr lang="en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contradictory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multi-turn chats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Why Metric-based Reward may fail – </a:t>
            </a:r>
            <a:r>
              <a:rPr lang="en" sz="2520">
                <a:solidFill>
                  <a:srgbClr val="FF0000"/>
                </a:solidFill>
              </a:rPr>
              <a:t>Summarization Task</a:t>
            </a:r>
            <a:endParaRPr sz="2520">
              <a:solidFill>
                <a:srgbClr val="FF0000"/>
              </a:solidFill>
            </a:endParaRPr>
          </a:p>
        </p:txBody>
      </p:sp>
      <p:grpSp>
        <p:nvGrpSpPr>
          <p:cNvPr id="118" name="Google Shape;118;p28"/>
          <p:cNvGrpSpPr/>
          <p:nvPr/>
        </p:nvGrpSpPr>
        <p:grpSpPr>
          <a:xfrm>
            <a:off x="568475" y="1867875"/>
            <a:ext cx="8268250" cy="2431002"/>
            <a:chOff x="568475" y="1867875"/>
            <a:chExt cx="8268250" cy="2431002"/>
          </a:xfrm>
        </p:grpSpPr>
        <p:pic>
          <p:nvPicPr>
            <p:cNvPr id="119" name="Google Shape;11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475" y="3317203"/>
              <a:ext cx="8268250" cy="981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20" name="Google Shape;120;p28"/>
            <p:cNvCxnSpPr/>
            <p:nvPr/>
          </p:nvCxnSpPr>
          <p:spPr>
            <a:xfrm>
              <a:off x="2219825" y="1867875"/>
              <a:ext cx="615600" cy="1504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21" name="Google Shape;1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1075"/>
            <a:ext cx="8520600" cy="50754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28"/>
          <p:cNvSpPr/>
          <p:nvPr/>
        </p:nvSpPr>
        <p:spPr>
          <a:xfrm>
            <a:off x="1822525" y="1237725"/>
            <a:ext cx="1561800" cy="81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9"/>
          <p:cNvPicPr preferRelativeResize="0"/>
          <p:nvPr/>
        </p:nvPicPr>
        <p:blipFill rotWithShape="1">
          <a:blip r:embed="rId3">
            <a:alphaModFix/>
          </a:blip>
          <a:srcRect b="44015" l="0" r="0" t="12284"/>
          <a:stretch/>
        </p:blipFill>
        <p:spPr>
          <a:xfrm>
            <a:off x="887100" y="2066802"/>
            <a:ext cx="6715076" cy="249997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Why Metric-based Reward may fail – </a:t>
            </a:r>
            <a:r>
              <a:rPr lang="en" sz="2520">
                <a:solidFill>
                  <a:srgbClr val="FF0000"/>
                </a:solidFill>
              </a:rPr>
              <a:t>Summarization Task</a:t>
            </a:r>
            <a:endParaRPr sz="2520"/>
          </a:p>
        </p:txBody>
      </p:sp>
      <p:pic>
        <p:nvPicPr>
          <p:cNvPr id="129" name="Google Shape;129;p29"/>
          <p:cNvPicPr preferRelativeResize="0"/>
          <p:nvPr/>
        </p:nvPicPr>
        <p:blipFill rotWithShape="1">
          <a:blip r:embed="rId3">
            <a:alphaModFix/>
          </a:blip>
          <a:srcRect b="87738" l="0" r="0" t="0"/>
          <a:stretch/>
        </p:blipFill>
        <p:spPr>
          <a:xfrm>
            <a:off x="887100" y="1334775"/>
            <a:ext cx="6715076" cy="7014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29"/>
          <p:cNvSpPr/>
          <p:nvPr/>
        </p:nvSpPr>
        <p:spPr>
          <a:xfrm>
            <a:off x="5333750" y="3375000"/>
            <a:ext cx="1503000" cy="3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9"/>
          <p:cNvSpPr/>
          <p:nvPr/>
        </p:nvSpPr>
        <p:spPr>
          <a:xfrm>
            <a:off x="4487975" y="2482250"/>
            <a:ext cx="2067000" cy="3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Why Metric-based Reward may fail – </a:t>
            </a:r>
            <a:r>
              <a:rPr lang="en" sz="2520">
                <a:solidFill>
                  <a:srgbClr val="FF0000"/>
                </a:solidFill>
              </a:rPr>
              <a:t>Summarization Task</a:t>
            </a:r>
            <a:endParaRPr sz="2520"/>
          </a:p>
        </p:txBody>
      </p:sp>
      <p:pic>
        <p:nvPicPr>
          <p:cNvPr id="137" name="Google Shape;137;p30"/>
          <p:cNvPicPr preferRelativeResize="0"/>
          <p:nvPr/>
        </p:nvPicPr>
        <p:blipFill rotWithShape="1">
          <a:blip r:embed="rId3">
            <a:alphaModFix/>
          </a:blip>
          <a:srcRect b="87943" l="0" r="0" t="0"/>
          <a:stretch/>
        </p:blipFill>
        <p:spPr>
          <a:xfrm>
            <a:off x="887100" y="1334775"/>
            <a:ext cx="6715076" cy="6897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30"/>
          <p:cNvPicPr preferRelativeResize="0"/>
          <p:nvPr/>
        </p:nvPicPr>
        <p:blipFill rotWithShape="1">
          <a:blip r:embed="rId3">
            <a:alphaModFix/>
          </a:blip>
          <a:srcRect b="0" l="0" r="0" t="55986"/>
          <a:stretch/>
        </p:blipFill>
        <p:spPr>
          <a:xfrm>
            <a:off x="887100" y="2049302"/>
            <a:ext cx="6715076" cy="251792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30"/>
          <p:cNvSpPr/>
          <p:nvPr/>
        </p:nvSpPr>
        <p:spPr>
          <a:xfrm>
            <a:off x="4488225" y="4126550"/>
            <a:ext cx="1832100" cy="3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Preference Alignment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Need a </a:t>
            </a:r>
            <a:r>
              <a:rPr i="1" lang="en" sz="2520">
                <a:solidFill>
                  <a:srgbClr val="FF0000"/>
                </a:solidFill>
              </a:rPr>
              <a:t>human-trained</a:t>
            </a:r>
            <a:r>
              <a:rPr lang="en" sz="2520"/>
              <a:t> </a:t>
            </a:r>
            <a:r>
              <a:rPr lang="en" sz="2520"/>
              <a:t>Reward Model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71075"/>
            <a:ext cx="8520600" cy="50754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32"/>
          <p:cNvSpPr/>
          <p:nvPr/>
        </p:nvSpPr>
        <p:spPr>
          <a:xfrm>
            <a:off x="1822525" y="1237725"/>
            <a:ext cx="1561800" cy="81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32"/>
          <p:cNvGrpSpPr/>
          <p:nvPr/>
        </p:nvGrpSpPr>
        <p:grpSpPr>
          <a:xfrm>
            <a:off x="184497" y="2048025"/>
            <a:ext cx="5860900" cy="2749369"/>
            <a:chOff x="1479375" y="1883882"/>
            <a:chExt cx="5860900" cy="2749369"/>
          </a:xfrm>
        </p:grpSpPr>
        <p:cxnSp>
          <p:nvCxnSpPr>
            <p:cNvPr id="153" name="Google Shape;153;p32"/>
            <p:cNvCxnSpPr>
              <a:stCxn id="151" idx="2"/>
            </p:cNvCxnSpPr>
            <p:nvPr/>
          </p:nvCxnSpPr>
          <p:spPr>
            <a:xfrm flipH="1">
              <a:off x="2835403" y="1883882"/>
              <a:ext cx="1062900" cy="1488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54" name="Google Shape;15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79375" y="3372675"/>
              <a:ext cx="5860900" cy="1260575"/>
            </a:xfrm>
            <a:prstGeom prst="rect">
              <a:avLst/>
            </a:prstGeom>
            <a:noFill/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155" name="Google Shape;15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1500" y="2959250"/>
            <a:ext cx="2295475" cy="1578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Everything else </a:t>
            </a:r>
            <a:r>
              <a:rPr i="1" lang="en" sz="2520" u="sng">
                <a:solidFill>
                  <a:srgbClr val="38761D"/>
                </a:solidFill>
              </a:rPr>
              <a:t>remains same</a:t>
            </a:r>
            <a:endParaRPr sz="25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grpSp>
        <p:nvGrpSpPr>
          <p:cNvPr id="161" name="Google Shape;161;p33"/>
          <p:cNvGrpSpPr/>
          <p:nvPr/>
        </p:nvGrpSpPr>
        <p:grpSpPr>
          <a:xfrm>
            <a:off x="1446697" y="1129147"/>
            <a:ext cx="5236874" cy="2635647"/>
            <a:chOff x="1081900" y="1197474"/>
            <a:chExt cx="7623925" cy="3842051"/>
          </a:xfrm>
        </p:grpSpPr>
        <p:pic>
          <p:nvPicPr>
            <p:cNvPr id="162" name="Google Shape;162;p33"/>
            <p:cNvPicPr preferRelativeResize="0"/>
            <p:nvPr/>
          </p:nvPicPr>
          <p:blipFill rotWithShape="1">
            <a:blip r:embed="rId3">
              <a:alphaModFix/>
            </a:blip>
            <a:srcRect b="0" l="0" r="92653" t="0"/>
            <a:stretch/>
          </p:blipFill>
          <p:spPr>
            <a:xfrm>
              <a:off x="1081900" y="1197486"/>
              <a:ext cx="1069524" cy="1188200"/>
            </a:xfrm>
            <a:prstGeom prst="rect">
              <a:avLst/>
            </a:prstGeom>
            <a:noFill/>
            <a:ln cap="flat" cmpd="sng" w="381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63" name="Google Shape;163;p33"/>
            <p:cNvPicPr preferRelativeResize="0"/>
            <p:nvPr/>
          </p:nvPicPr>
          <p:blipFill rotWithShape="1">
            <a:blip r:embed="rId3">
              <a:alphaModFix/>
            </a:blip>
            <a:srcRect b="0" l="77710" r="0" t="0"/>
            <a:stretch/>
          </p:blipFill>
          <p:spPr>
            <a:xfrm>
              <a:off x="3847912" y="3851325"/>
              <a:ext cx="3245076" cy="1188200"/>
            </a:xfrm>
            <a:prstGeom prst="rect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64" name="Google Shape;164;p33"/>
            <p:cNvPicPr preferRelativeResize="0"/>
            <p:nvPr/>
          </p:nvPicPr>
          <p:blipFill rotWithShape="1">
            <a:blip r:embed="rId3">
              <a:alphaModFix/>
            </a:blip>
            <a:srcRect b="0" l="51400" r="21826" t="0"/>
            <a:stretch/>
          </p:blipFill>
          <p:spPr>
            <a:xfrm>
              <a:off x="3292982" y="2524400"/>
              <a:ext cx="3897750" cy="1188200"/>
            </a:xfrm>
            <a:prstGeom prst="rect">
              <a:avLst/>
            </a:prstGeom>
            <a:noFill/>
            <a:ln cap="flat" cmpd="sng" w="2857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65" name="Google Shape;165;p33"/>
            <p:cNvPicPr preferRelativeResize="0"/>
            <p:nvPr/>
          </p:nvPicPr>
          <p:blipFill rotWithShape="1">
            <a:blip r:embed="rId3">
              <a:alphaModFix/>
            </a:blip>
            <a:srcRect b="0" l="7522" r="48207" t="0"/>
            <a:stretch/>
          </p:blipFill>
          <p:spPr>
            <a:xfrm>
              <a:off x="2260850" y="1197474"/>
              <a:ext cx="6444975" cy="11882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166" name="Google Shape;166;p33"/>
          <p:cNvGrpSpPr/>
          <p:nvPr/>
        </p:nvGrpSpPr>
        <p:grpSpPr>
          <a:xfrm>
            <a:off x="408400" y="3770825"/>
            <a:ext cx="2926525" cy="990500"/>
            <a:chOff x="408400" y="3770825"/>
            <a:chExt cx="2926525" cy="990500"/>
          </a:xfrm>
        </p:grpSpPr>
        <p:pic>
          <p:nvPicPr>
            <p:cNvPr id="167" name="Google Shape;167;p33"/>
            <p:cNvPicPr preferRelativeResize="0"/>
            <p:nvPr/>
          </p:nvPicPr>
          <p:blipFill rotWithShape="1">
            <a:blip r:embed="rId4">
              <a:alphaModFix/>
            </a:blip>
            <a:srcRect b="76561" l="9871" r="86394" t="17400"/>
            <a:stretch/>
          </p:blipFill>
          <p:spPr>
            <a:xfrm>
              <a:off x="1392093" y="3770825"/>
              <a:ext cx="411992" cy="552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33"/>
            <p:cNvPicPr preferRelativeResize="0"/>
            <p:nvPr/>
          </p:nvPicPr>
          <p:blipFill rotWithShape="1">
            <a:blip r:embed="rId5">
              <a:alphaModFix/>
            </a:blip>
            <a:srcRect b="20187" l="2765" r="38660" t="29808"/>
            <a:stretch/>
          </p:blipFill>
          <p:spPr>
            <a:xfrm>
              <a:off x="408400" y="4367750"/>
              <a:ext cx="2926525" cy="393575"/>
            </a:xfrm>
            <a:prstGeom prst="rect">
              <a:avLst/>
            </a:prstGeom>
            <a:noFill/>
            <a:ln cap="flat" cmpd="sng" w="381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grpSp>
        <p:nvGrpSpPr>
          <p:cNvPr id="169" name="Google Shape;169;p33"/>
          <p:cNvGrpSpPr/>
          <p:nvPr/>
        </p:nvGrpSpPr>
        <p:grpSpPr>
          <a:xfrm>
            <a:off x="4656347" y="3741604"/>
            <a:ext cx="3964575" cy="1092796"/>
            <a:chOff x="4656347" y="3741604"/>
            <a:chExt cx="3964575" cy="1092796"/>
          </a:xfrm>
        </p:grpSpPr>
        <p:pic>
          <p:nvPicPr>
            <p:cNvPr id="170" name="Google Shape;170;p33"/>
            <p:cNvPicPr preferRelativeResize="0"/>
            <p:nvPr/>
          </p:nvPicPr>
          <p:blipFill rotWithShape="1">
            <a:blip r:embed="rId6">
              <a:alphaModFix/>
            </a:blip>
            <a:srcRect b="15315" l="17245" r="18574" t="10627"/>
            <a:stretch/>
          </p:blipFill>
          <p:spPr>
            <a:xfrm>
              <a:off x="6280350" y="3741604"/>
              <a:ext cx="567525" cy="65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3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56347" y="4440825"/>
              <a:ext cx="3964575" cy="393575"/>
            </a:xfrm>
            <a:prstGeom prst="rect">
              <a:avLst/>
            </a:prstGeom>
            <a:noFill/>
            <a:ln cap="flat" cmpd="sng" w="381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264725" y="13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How will the human teach?</a:t>
            </a:r>
            <a:endParaRPr sz="25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77" name="Google Shape;177;p34" title="reward_human.png"/>
          <p:cNvPicPr preferRelativeResize="0"/>
          <p:nvPr/>
        </p:nvPicPr>
        <p:blipFill rotWithShape="1">
          <a:blip r:embed="rId3">
            <a:alphaModFix/>
          </a:blip>
          <a:srcRect b="0" l="9609" r="16873" t="31544"/>
          <a:stretch/>
        </p:blipFill>
        <p:spPr>
          <a:xfrm>
            <a:off x="3885550" y="3386450"/>
            <a:ext cx="1372900" cy="1597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34"/>
          <p:cNvGrpSpPr/>
          <p:nvPr/>
        </p:nvGrpSpPr>
        <p:grpSpPr>
          <a:xfrm>
            <a:off x="177050" y="1985250"/>
            <a:ext cx="4395000" cy="1401300"/>
            <a:chOff x="405650" y="1832850"/>
            <a:chExt cx="4395000" cy="1401300"/>
          </a:xfrm>
        </p:grpSpPr>
        <p:sp>
          <p:nvSpPr>
            <p:cNvPr id="179" name="Google Shape;179;p34"/>
            <p:cNvSpPr txBox="1"/>
            <p:nvPr/>
          </p:nvSpPr>
          <p:spPr>
            <a:xfrm>
              <a:off x="405650" y="1832850"/>
              <a:ext cx="4223400" cy="7389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“Between summary </a:t>
              </a:r>
              <a:r>
                <a:rPr b="1" i="1" lang="en" sz="1800">
                  <a:solidFill>
                    <a:schemeClr val="dk1"/>
                  </a:solidFill>
                </a:rPr>
                <a:t>A</a:t>
              </a:r>
              <a:r>
                <a:rPr i="1" lang="en" sz="1800">
                  <a:solidFill>
                    <a:schemeClr val="dk1"/>
                  </a:solidFill>
                </a:rPr>
                <a:t> and summary </a:t>
              </a:r>
              <a:r>
                <a:rPr b="1" i="1" lang="en" sz="1800">
                  <a:solidFill>
                    <a:schemeClr val="dk1"/>
                  </a:solidFill>
                </a:rPr>
                <a:t>B</a:t>
              </a:r>
              <a:r>
                <a:rPr i="1" lang="en" sz="1800">
                  <a:solidFill>
                    <a:schemeClr val="dk1"/>
                  </a:solidFill>
                </a:rPr>
                <a:t>, which summary is better?”</a:t>
              </a:r>
              <a:endParaRPr i="1" sz="1800"/>
            </a:p>
          </p:txBody>
        </p:sp>
        <p:cxnSp>
          <p:nvCxnSpPr>
            <p:cNvPr id="180" name="Google Shape;180;p34"/>
            <p:cNvCxnSpPr>
              <a:stCxn id="179" idx="2"/>
              <a:endCxn id="177" idx="0"/>
            </p:cNvCxnSpPr>
            <p:nvPr/>
          </p:nvCxnSpPr>
          <p:spPr>
            <a:xfrm>
              <a:off x="2517350" y="2571750"/>
              <a:ext cx="2283300" cy="66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1" name="Google Shape;181;p34"/>
          <p:cNvSpPr txBox="1"/>
          <p:nvPr/>
        </p:nvSpPr>
        <p:spPr>
          <a:xfrm>
            <a:off x="4587677" y="2123850"/>
            <a:ext cx="5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Vs.</a:t>
            </a:r>
            <a:endParaRPr b="1" sz="1800">
              <a:solidFill>
                <a:schemeClr val="dk2"/>
              </a:solidFill>
            </a:endParaRPr>
          </a:p>
        </p:txBody>
      </p:sp>
      <p:grpSp>
        <p:nvGrpSpPr>
          <p:cNvPr id="182" name="Google Shape;182;p34"/>
          <p:cNvGrpSpPr/>
          <p:nvPr/>
        </p:nvGrpSpPr>
        <p:grpSpPr>
          <a:xfrm>
            <a:off x="4571975" y="1985250"/>
            <a:ext cx="4419150" cy="1401300"/>
            <a:chOff x="4495775" y="1832850"/>
            <a:chExt cx="4419150" cy="1401300"/>
          </a:xfrm>
        </p:grpSpPr>
        <p:sp>
          <p:nvSpPr>
            <p:cNvPr id="183" name="Google Shape;183;p34"/>
            <p:cNvSpPr txBox="1"/>
            <p:nvPr/>
          </p:nvSpPr>
          <p:spPr>
            <a:xfrm>
              <a:off x="5125625" y="1832850"/>
              <a:ext cx="3789300" cy="7389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“Give a rating to </a:t>
              </a:r>
              <a:r>
                <a:rPr b="1" i="1" lang="en" sz="1800">
                  <a:solidFill>
                    <a:schemeClr val="dk1"/>
                  </a:solidFill>
                </a:rPr>
                <a:t>A</a:t>
              </a:r>
              <a:r>
                <a:rPr i="1" lang="en" sz="1800">
                  <a:solidFill>
                    <a:schemeClr val="dk1"/>
                  </a:solidFill>
                </a:rPr>
                <a:t> and then give a rating to </a:t>
              </a:r>
              <a:r>
                <a:rPr b="1" i="1" lang="en" sz="1800">
                  <a:solidFill>
                    <a:schemeClr val="dk1"/>
                  </a:solidFill>
                </a:rPr>
                <a:t>B</a:t>
              </a:r>
              <a:r>
                <a:rPr i="1" lang="en" sz="1800">
                  <a:solidFill>
                    <a:schemeClr val="dk1"/>
                  </a:solidFill>
                </a:rPr>
                <a:t>?”</a:t>
              </a:r>
              <a:endParaRPr i="1" sz="1800"/>
            </a:p>
          </p:txBody>
        </p:sp>
        <p:cxnSp>
          <p:nvCxnSpPr>
            <p:cNvPr id="184" name="Google Shape;184;p34"/>
            <p:cNvCxnSpPr>
              <a:stCxn id="183" idx="2"/>
              <a:endCxn id="177" idx="0"/>
            </p:cNvCxnSpPr>
            <p:nvPr/>
          </p:nvCxnSpPr>
          <p:spPr>
            <a:xfrm flipH="1">
              <a:off x="4495775" y="2571750"/>
              <a:ext cx="2524500" cy="66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5" name="Google Shape;185;p34"/>
          <p:cNvSpPr/>
          <p:nvPr/>
        </p:nvSpPr>
        <p:spPr>
          <a:xfrm>
            <a:off x="128125" y="1871600"/>
            <a:ext cx="4343100" cy="10185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34"/>
          <p:cNvGrpSpPr/>
          <p:nvPr/>
        </p:nvGrpSpPr>
        <p:grpSpPr>
          <a:xfrm>
            <a:off x="1492722" y="861939"/>
            <a:ext cx="2666653" cy="1018586"/>
            <a:chOff x="1416522" y="709539"/>
            <a:chExt cx="2666653" cy="1018586"/>
          </a:xfrm>
        </p:grpSpPr>
        <p:pic>
          <p:nvPicPr>
            <p:cNvPr id="187" name="Google Shape;187;p34"/>
            <p:cNvPicPr preferRelativeResize="0"/>
            <p:nvPr/>
          </p:nvPicPr>
          <p:blipFill rotWithShape="1">
            <a:blip r:embed="rId4">
              <a:alphaModFix/>
            </a:blip>
            <a:srcRect b="76561" l="9871" r="86394" t="17400"/>
            <a:stretch/>
          </p:blipFill>
          <p:spPr>
            <a:xfrm>
              <a:off x="1416522" y="865315"/>
              <a:ext cx="563701" cy="75591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8" name="Google Shape;188;p34"/>
            <p:cNvCxnSpPr>
              <a:stCxn id="187" idx="3"/>
            </p:cNvCxnSpPr>
            <p:nvPr/>
          </p:nvCxnSpPr>
          <p:spPr>
            <a:xfrm flipH="1" rot="10800000">
              <a:off x="1980223" y="909070"/>
              <a:ext cx="570300" cy="334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34"/>
            <p:cNvCxnSpPr>
              <a:stCxn id="187" idx="3"/>
            </p:cNvCxnSpPr>
            <p:nvPr/>
          </p:nvCxnSpPr>
          <p:spPr>
            <a:xfrm>
              <a:off x="1980223" y="1243270"/>
              <a:ext cx="523500" cy="32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0" name="Google Shape;190;p34"/>
            <p:cNvSpPr txBox="1"/>
            <p:nvPr/>
          </p:nvSpPr>
          <p:spPr>
            <a:xfrm>
              <a:off x="2521375" y="709539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1" name="Google Shape;191;p34"/>
            <p:cNvSpPr txBox="1"/>
            <p:nvPr/>
          </p:nvSpPr>
          <p:spPr>
            <a:xfrm>
              <a:off x="2445175" y="1266425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B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Guessing the user’s preference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264725" y="13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220">
                <a:highlight>
                  <a:srgbClr val="FFFF00"/>
                </a:highlight>
              </a:rPr>
              <a:t>Chance that </a:t>
            </a:r>
            <a:r>
              <a:rPr i="1" lang="en" sz="2220">
                <a:solidFill>
                  <a:srgbClr val="FF0000"/>
                </a:solidFill>
                <a:highlight>
                  <a:srgbClr val="FFFF00"/>
                </a:highlight>
              </a:rPr>
              <a:t>human</a:t>
            </a:r>
            <a:r>
              <a:rPr i="1" lang="en" sz="2220">
                <a:highlight>
                  <a:srgbClr val="FFFF00"/>
                </a:highlight>
              </a:rPr>
              <a:t> will pick Summary 1??</a:t>
            </a:r>
            <a:r>
              <a:rPr lang="en" sz="2220"/>
              <a:t> → Bradley-Terry Model</a:t>
            </a:r>
            <a:endParaRPr sz="22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20"/>
          </a:p>
        </p:txBody>
      </p:sp>
      <p:grpSp>
        <p:nvGrpSpPr>
          <p:cNvPr id="202" name="Google Shape;202;p36"/>
          <p:cNvGrpSpPr/>
          <p:nvPr/>
        </p:nvGrpSpPr>
        <p:grpSpPr>
          <a:xfrm>
            <a:off x="954610" y="3598364"/>
            <a:ext cx="2666653" cy="1018586"/>
            <a:chOff x="1416522" y="709539"/>
            <a:chExt cx="2666653" cy="1018586"/>
          </a:xfrm>
        </p:grpSpPr>
        <p:pic>
          <p:nvPicPr>
            <p:cNvPr id="203" name="Google Shape;203;p36"/>
            <p:cNvPicPr preferRelativeResize="0"/>
            <p:nvPr/>
          </p:nvPicPr>
          <p:blipFill rotWithShape="1">
            <a:blip r:embed="rId3">
              <a:alphaModFix/>
            </a:blip>
            <a:srcRect b="76561" l="9871" r="86394" t="17400"/>
            <a:stretch/>
          </p:blipFill>
          <p:spPr>
            <a:xfrm>
              <a:off x="1416522" y="865315"/>
              <a:ext cx="563701" cy="75591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4" name="Google Shape;204;p36"/>
            <p:cNvCxnSpPr>
              <a:stCxn id="203" idx="3"/>
            </p:cNvCxnSpPr>
            <p:nvPr/>
          </p:nvCxnSpPr>
          <p:spPr>
            <a:xfrm flipH="1" rot="10800000">
              <a:off x="1980223" y="909070"/>
              <a:ext cx="570300" cy="334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5" name="Google Shape;205;p36"/>
            <p:cNvCxnSpPr>
              <a:stCxn id="203" idx="3"/>
            </p:cNvCxnSpPr>
            <p:nvPr/>
          </p:nvCxnSpPr>
          <p:spPr>
            <a:xfrm>
              <a:off x="1980223" y="1243270"/>
              <a:ext cx="523500" cy="32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" name="Google Shape;206;p36"/>
            <p:cNvSpPr txBox="1"/>
            <p:nvPr/>
          </p:nvSpPr>
          <p:spPr>
            <a:xfrm>
              <a:off x="2521375" y="709539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36"/>
            <p:cNvSpPr txBox="1"/>
            <p:nvPr/>
          </p:nvSpPr>
          <p:spPr>
            <a:xfrm>
              <a:off x="2445175" y="1266425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pic>
        <p:nvPicPr>
          <p:cNvPr id="208" name="Google Shape;208;p36"/>
          <p:cNvPicPr preferRelativeResize="0"/>
          <p:nvPr/>
        </p:nvPicPr>
        <p:blipFill rotWithShape="1">
          <a:blip r:embed="rId4">
            <a:alphaModFix/>
          </a:blip>
          <a:srcRect b="0" l="0" r="32705" t="0"/>
          <a:stretch/>
        </p:blipFill>
        <p:spPr>
          <a:xfrm>
            <a:off x="4189549" y="998877"/>
            <a:ext cx="4070713" cy="953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9" name="Google Shape;209;p36"/>
          <p:cNvGrpSpPr/>
          <p:nvPr/>
        </p:nvGrpSpPr>
        <p:grpSpPr>
          <a:xfrm>
            <a:off x="3545063" y="3684275"/>
            <a:ext cx="1595937" cy="1018575"/>
            <a:chOff x="3545063" y="3684275"/>
            <a:chExt cx="1595937" cy="1018575"/>
          </a:xfrm>
        </p:grpSpPr>
        <p:pic>
          <p:nvPicPr>
            <p:cNvPr id="210" name="Google Shape;210;p36" title="reward_human.png"/>
            <p:cNvPicPr preferRelativeResize="0"/>
            <p:nvPr/>
          </p:nvPicPr>
          <p:blipFill rotWithShape="1">
            <a:blip r:embed="rId5">
              <a:alphaModFix/>
            </a:blip>
            <a:srcRect b="0" l="9609" r="16873" t="31544"/>
            <a:stretch/>
          </p:blipFill>
          <p:spPr>
            <a:xfrm>
              <a:off x="4265878" y="3684275"/>
              <a:ext cx="875122" cy="10185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" name="Google Shape;211;p36"/>
            <p:cNvGrpSpPr/>
            <p:nvPr/>
          </p:nvGrpSpPr>
          <p:grpSpPr>
            <a:xfrm>
              <a:off x="3545063" y="3829214"/>
              <a:ext cx="720900" cy="556886"/>
              <a:chOff x="3545063" y="3829214"/>
              <a:chExt cx="720900" cy="556886"/>
            </a:xfrm>
          </p:grpSpPr>
          <p:cxnSp>
            <p:nvCxnSpPr>
              <p:cNvPr id="212" name="Google Shape;212;p36"/>
              <p:cNvCxnSpPr>
                <a:stCxn id="206" idx="3"/>
                <a:endCxn id="210" idx="1"/>
              </p:cNvCxnSpPr>
              <p:nvPr/>
            </p:nvCxnSpPr>
            <p:spPr>
              <a:xfrm>
                <a:off x="3621263" y="3829214"/>
                <a:ext cx="644700" cy="364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3" name="Google Shape;213;p36"/>
              <p:cNvCxnSpPr>
                <a:stCxn id="207" idx="3"/>
                <a:endCxn id="210" idx="1"/>
              </p:cNvCxnSpPr>
              <p:nvPr/>
            </p:nvCxnSpPr>
            <p:spPr>
              <a:xfrm flipH="1" rot="10800000">
                <a:off x="3545063" y="4193500"/>
                <a:ext cx="720900" cy="19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214" name="Google Shape;214;p36"/>
          <p:cNvSpPr/>
          <p:nvPr/>
        </p:nvSpPr>
        <p:spPr>
          <a:xfrm>
            <a:off x="2075150" y="3633325"/>
            <a:ext cx="1256400" cy="3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36"/>
          <p:cNvGrpSpPr/>
          <p:nvPr/>
        </p:nvGrpSpPr>
        <p:grpSpPr>
          <a:xfrm>
            <a:off x="3676541" y="1952677"/>
            <a:ext cx="5098944" cy="1338598"/>
            <a:chOff x="2000141" y="1952677"/>
            <a:chExt cx="5098944" cy="1338598"/>
          </a:xfrm>
        </p:grpSpPr>
        <p:pic>
          <p:nvPicPr>
            <p:cNvPr id="216" name="Google Shape;216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00141" y="2412163"/>
              <a:ext cx="5098944" cy="87911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17" name="Google Shape;217;p36"/>
            <p:cNvCxnSpPr>
              <a:stCxn id="208" idx="2"/>
              <a:endCxn id="216" idx="0"/>
            </p:cNvCxnSpPr>
            <p:nvPr/>
          </p:nvCxnSpPr>
          <p:spPr>
            <a:xfrm>
              <a:off x="4548505" y="1952677"/>
              <a:ext cx="1200" cy="459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18" name="Google Shape;218;p36"/>
          <p:cNvCxnSpPr/>
          <p:nvPr/>
        </p:nvCxnSpPr>
        <p:spPr>
          <a:xfrm>
            <a:off x="7104075" y="3093150"/>
            <a:ext cx="1526700" cy="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6"/>
          <p:cNvCxnSpPr>
            <a:stCxn id="220" idx="3"/>
          </p:cNvCxnSpPr>
          <p:nvPr/>
        </p:nvCxnSpPr>
        <p:spPr>
          <a:xfrm flipH="1" rot="10800000">
            <a:off x="828435" y="580045"/>
            <a:ext cx="324600" cy="5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1" name="Google Shape;221;p36" title="reward_bot.png"/>
          <p:cNvPicPr preferRelativeResize="0"/>
          <p:nvPr/>
        </p:nvPicPr>
        <p:blipFill rotWithShape="1">
          <a:blip r:embed="rId7">
            <a:alphaModFix/>
          </a:blip>
          <a:srcRect b="0" l="18736" r="11275" t="28556"/>
          <a:stretch/>
        </p:blipFill>
        <p:spPr>
          <a:xfrm>
            <a:off x="264725" y="1069050"/>
            <a:ext cx="649325" cy="82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36"/>
          <p:cNvCxnSpPr>
            <a:stCxn id="214" idx="0"/>
            <a:endCxn id="221" idx="2"/>
          </p:cNvCxnSpPr>
          <p:nvPr/>
        </p:nvCxnSpPr>
        <p:spPr>
          <a:xfrm rot="10800000">
            <a:off x="589250" y="1897525"/>
            <a:ext cx="2114100" cy="17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3" name="Google Shape;223;p36"/>
          <p:cNvGrpSpPr/>
          <p:nvPr/>
        </p:nvGrpSpPr>
        <p:grpSpPr>
          <a:xfrm>
            <a:off x="914050" y="1105868"/>
            <a:ext cx="2905000" cy="763275"/>
            <a:chOff x="914050" y="1105868"/>
            <a:chExt cx="2905000" cy="763275"/>
          </a:xfrm>
        </p:grpSpPr>
        <p:pic>
          <p:nvPicPr>
            <p:cNvPr id="224" name="Google Shape;224;p3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356850" y="1105868"/>
              <a:ext cx="2462200" cy="763275"/>
            </a:xfrm>
            <a:prstGeom prst="rect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25" name="Google Shape;225;p36"/>
            <p:cNvCxnSpPr>
              <a:stCxn id="221" idx="3"/>
              <a:endCxn id="224" idx="1"/>
            </p:cNvCxnSpPr>
            <p:nvPr/>
          </p:nvCxnSpPr>
          <p:spPr>
            <a:xfrm>
              <a:off x="914050" y="1483300"/>
              <a:ext cx="442800" cy="42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" name="Google Shape;226;p36"/>
          <p:cNvGrpSpPr/>
          <p:nvPr/>
        </p:nvGrpSpPr>
        <p:grpSpPr>
          <a:xfrm>
            <a:off x="5293400" y="3093175"/>
            <a:ext cx="3426161" cy="1097700"/>
            <a:chOff x="5293400" y="3093175"/>
            <a:chExt cx="3426161" cy="1097700"/>
          </a:xfrm>
        </p:grpSpPr>
        <p:pic>
          <p:nvPicPr>
            <p:cNvPr id="227" name="Google Shape;227;p3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293400" y="3598375"/>
              <a:ext cx="3426161" cy="5925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28" name="Google Shape;228;p36"/>
            <p:cNvCxnSpPr>
              <a:endCxn id="227" idx="0"/>
            </p:cNvCxnSpPr>
            <p:nvPr/>
          </p:nvCxnSpPr>
          <p:spPr>
            <a:xfrm flipH="1">
              <a:off x="7006481" y="3093175"/>
              <a:ext cx="910500" cy="505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264725" y="13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Chance that </a:t>
            </a:r>
            <a:r>
              <a:rPr lang="en" sz="2220">
                <a:solidFill>
                  <a:srgbClr val="FF0000"/>
                </a:solidFill>
              </a:rPr>
              <a:t>human</a:t>
            </a:r>
            <a:r>
              <a:rPr lang="en" sz="2220"/>
              <a:t> will pick Summary 1 → </a:t>
            </a:r>
            <a:r>
              <a:rPr i="1" lang="en" sz="2220">
                <a:highlight>
                  <a:srgbClr val="FFFF00"/>
                </a:highlight>
              </a:rPr>
              <a:t>Am I right?</a:t>
            </a:r>
            <a:endParaRPr i="1" sz="2220">
              <a:solidFill>
                <a:srgbClr val="38761D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20"/>
          </a:p>
        </p:txBody>
      </p:sp>
      <p:grpSp>
        <p:nvGrpSpPr>
          <p:cNvPr id="234" name="Google Shape;234;p37"/>
          <p:cNvGrpSpPr/>
          <p:nvPr/>
        </p:nvGrpSpPr>
        <p:grpSpPr>
          <a:xfrm>
            <a:off x="954610" y="3598364"/>
            <a:ext cx="2666653" cy="1018586"/>
            <a:chOff x="1416522" y="709539"/>
            <a:chExt cx="2666653" cy="1018586"/>
          </a:xfrm>
        </p:grpSpPr>
        <p:pic>
          <p:nvPicPr>
            <p:cNvPr id="235" name="Google Shape;235;p37"/>
            <p:cNvPicPr preferRelativeResize="0"/>
            <p:nvPr/>
          </p:nvPicPr>
          <p:blipFill rotWithShape="1">
            <a:blip r:embed="rId3">
              <a:alphaModFix/>
            </a:blip>
            <a:srcRect b="76561" l="9871" r="86394" t="17400"/>
            <a:stretch/>
          </p:blipFill>
          <p:spPr>
            <a:xfrm>
              <a:off x="1416522" y="865315"/>
              <a:ext cx="563701" cy="75591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6" name="Google Shape;236;p37"/>
            <p:cNvCxnSpPr>
              <a:stCxn id="235" idx="3"/>
            </p:cNvCxnSpPr>
            <p:nvPr/>
          </p:nvCxnSpPr>
          <p:spPr>
            <a:xfrm flipH="1" rot="10800000">
              <a:off x="1980223" y="909070"/>
              <a:ext cx="570300" cy="334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7" name="Google Shape;237;p37"/>
            <p:cNvCxnSpPr>
              <a:stCxn id="235" idx="3"/>
            </p:cNvCxnSpPr>
            <p:nvPr/>
          </p:nvCxnSpPr>
          <p:spPr>
            <a:xfrm>
              <a:off x="1980223" y="1243270"/>
              <a:ext cx="523500" cy="32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" name="Google Shape;238;p37"/>
            <p:cNvSpPr txBox="1"/>
            <p:nvPr/>
          </p:nvSpPr>
          <p:spPr>
            <a:xfrm>
              <a:off x="2521375" y="709539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39" name="Google Shape;239;p37"/>
            <p:cNvSpPr txBox="1"/>
            <p:nvPr/>
          </p:nvSpPr>
          <p:spPr>
            <a:xfrm>
              <a:off x="2445175" y="1266425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Summary 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40" name="Google Shape;240;p37"/>
          <p:cNvGrpSpPr/>
          <p:nvPr/>
        </p:nvGrpSpPr>
        <p:grpSpPr>
          <a:xfrm>
            <a:off x="3545063" y="3684275"/>
            <a:ext cx="1595937" cy="1018575"/>
            <a:chOff x="3545063" y="3684275"/>
            <a:chExt cx="1595937" cy="1018575"/>
          </a:xfrm>
        </p:grpSpPr>
        <p:pic>
          <p:nvPicPr>
            <p:cNvPr id="241" name="Google Shape;241;p37" title="reward_human.png"/>
            <p:cNvPicPr preferRelativeResize="0"/>
            <p:nvPr/>
          </p:nvPicPr>
          <p:blipFill rotWithShape="1">
            <a:blip r:embed="rId4">
              <a:alphaModFix/>
            </a:blip>
            <a:srcRect b="0" l="9609" r="16873" t="31544"/>
            <a:stretch/>
          </p:blipFill>
          <p:spPr>
            <a:xfrm>
              <a:off x="4265878" y="3684275"/>
              <a:ext cx="875122" cy="1018575"/>
            </a:xfrm>
            <a:prstGeom prst="rect">
              <a:avLst/>
            </a:prstGeom>
            <a:noFill/>
            <a:ln cap="flat" cmpd="sng" w="2857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242" name="Google Shape;242;p37"/>
            <p:cNvGrpSpPr/>
            <p:nvPr/>
          </p:nvGrpSpPr>
          <p:grpSpPr>
            <a:xfrm>
              <a:off x="3545063" y="3829214"/>
              <a:ext cx="720900" cy="556886"/>
              <a:chOff x="3545063" y="3829214"/>
              <a:chExt cx="720900" cy="556886"/>
            </a:xfrm>
          </p:grpSpPr>
          <p:cxnSp>
            <p:nvCxnSpPr>
              <p:cNvPr id="243" name="Google Shape;243;p37"/>
              <p:cNvCxnSpPr>
                <a:stCxn id="238" idx="3"/>
                <a:endCxn id="241" idx="1"/>
              </p:cNvCxnSpPr>
              <p:nvPr/>
            </p:nvCxnSpPr>
            <p:spPr>
              <a:xfrm>
                <a:off x="3621263" y="3829214"/>
                <a:ext cx="644700" cy="364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4" name="Google Shape;244;p37"/>
              <p:cNvCxnSpPr>
                <a:stCxn id="239" idx="3"/>
                <a:endCxn id="241" idx="1"/>
              </p:cNvCxnSpPr>
              <p:nvPr/>
            </p:nvCxnSpPr>
            <p:spPr>
              <a:xfrm flipH="1" rot="10800000">
                <a:off x="3545063" y="4193500"/>
                <a:ext cx="720900" cy="19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cxnSp>
        <p:nvCxnSpPr>
          <p:cNvPr id="245" name="Google Shape;245;p37"/>
          <p:cNvCxnSpPr>
            <a:stCxn id="246" idx="3"/>
          </p:cNvCxnSpPr>
          <p:nvPr/>
        </p:nvCxnSpPr>
        <p:spPr>
          <a:xfrm flipH="1" rot="10800000">
            <a:off x="828435" y="580045"/>
            <a:ext cx="324600" cy="5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7" name="Google Shape;247;p37" title="reward_bot.png"/>
          <p:cNvPicPr preferRelativeResize="0"/>
          <p:nvPr/>
        </p:nvPicPr>
        <p:blipFill rotWithShape="1">
          <a:blip r:embed="rId5">
            <a:alphaModFix/>
          </a:blip>
          <a:srcRect b="0" l="18736" r="11275" t="28556"/>
          <a:stretch/>
        </p:blipFill>
        <p:spPr>
          <a:xfrm>
            <a:off x="264725" y="1069050"/>
            <a:ext cx="649325" cy="82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7"/>
          <p:cNvCxnSpPr>
            <a:stCxn id="249" idx="0"/>
            <a:endCxn id="247" idx="2"/>
          </p:cNvCxnSpPr>
          <p:nvPr/>
        </p:nvCxnSpPr>
        <p:spPr>
          <a:xfrm rot="10800000">
            <a:off x="589388" y="1897550"/>
            <a:ext cx="2114100" cy="173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0" name="Google Shape;250;p37"/>
          <p:cNvGrpSpPr/>
          <p:nvPr/>
        </p:nvGrpSpPr>
        <p:grpSpPr>
          <a:xfrm>
            <a:off x="914050" y="1105868"/>
            <a:ext cx="2905000" cy="763275"/>
            <a:chOff x="914050" y="1105868"/>
            <a:chExt cx="2905000" cy="763275"/>
          </a:xfrm>
        </p:grpSpPr>
        <p:pic>
          <p:nvPicPr>
            <p:cNvPr id="251" name="Google Shape;251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56850" y="1105868"/>
              <a:ext cx="2462200" cy="763275"/>
            </a:xfrm>
            <a:prstGeom prst="rect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52" name="Google Shape;252;p37"/>
            <p:cNvCxnSpPr>
              <a:stCxn id="247" idx="3"/>
              <a:endCxn id="251" idx="1"/>
            </p:cNvCxnSpPr>
            <p:nvPr/>
          </p:nvCxnSpPr>
          <p:spPr>
            <a:xfrm>
              <a:off x="914050" y="1483300"/>
              <a:ext cx="442800" cy="42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253" name="Google Shape;25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90750" y="3556175"/>
            <a:ext cx="3039850" cy="1274775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54" name="Google Shape;254;p37"/>
          <p:cNvGrpSpPr/>
          <p:nvPr/>
        </p:nvGrpSpPr>
        <p:grpSpPr>
          <a:xfrm>
            <a:off x="3819050" y="1101675"/>
            <a:ext cx="4417800" cy="763275"/>
            <a:chOff x="3819050" y="1101675"/>
            <a:chExt cx="4417800" cy="763275"/>
          </a:xfrm>
        </p:grpSpPr>
        <p:pic>
          <p:nvPicPr>
            <p:cNvPr id="255" name="Google Shape;255;p3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35200" y="1101675"/>
              <a:ext cx="3801649" cy="763275"/>
            </a:xfrm>
            <a:prstGeom prst="rect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56" name="Google Shape;256;p37"/>
            <p:cNvCxnSpPr>
              <a:stCxn id="251" idx="3"/>
              <a:endCxn id="255" idx="1"/>
            </p:cNvCxnSpPr>
            <p:nvPr/>
          </p:nvCxnSpPr>
          <p:spPr>
            <a:xfrm flipH="1" rot="10800000">
              <a:off x="3819050" y="1483306"/>
              <a:ext cx="616200" cy="42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57" name="Google Shape;257;p37"/>
          <p:cNvCxnSpPr/>
          <p:nvPr/>
        </p:nvCxnSpPr>
        <p:spPr>
          <a:xfrm>
            <a:off x="5762800" y="609350"/>
            <a:ext cx="1450200" cy="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7"/>
          <p:cNvCxnSpPr/>
          <p:nvPr/>
        </p:nvCxnSpPr>
        <p:spPr>
          <a:xfrm>
            <a:off x="6800330" y="4111502"/>
            <a:ext cx="16164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7"/>
          <p:cNvSpPr/>
          <p:nvPr/>
        </p:nvSpPr>
        <p:spPr>
          <a:xfrm>
            <a:off x="2075150" y="3633325"/>
            <a:ext cx="1256400" cy="3876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/>
          <p:nvPr/>
        </p:nvSpPr>
        <p:spPr>
          <a:xfrm>
            <a:off x="2075150" y="4207764"/>
            <a:ext cx="1256400" cy="3876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22250" y="2158876"/>
            <a:ext cx="6463074" cy="95450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2" name="Google Shape;262;p37"/>
          <p:cNvCxnSpPr/>
          <p:nvPr/>
        </p:nvCxnSpPr>
        <p:spPr>
          <a:xfrm>
            <a:off x="4745592" y="2868577"/>
            <a:ext cx="3889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3" name="Google Shape;263;p37"/>
          <p:cNvGrpSpPr/>
          <p:nvPr/>
        </p:nvGrpSpPr>
        <p:grpSpPr>
          <a:xfrm>
            <a:off x="5885925" y="2866475"/>
            <a:ext cx="3060582" cy="657184"/>
            <a:chOff x="5885925" y="2866475"/>
            <a:chExt cx="3060582" cy="657184"/>
          </a:xfrm>
        </p:grpSpPr>
        <p:cxnSp>
          <p:nvCxnSpPr>
            <p:cNvPr id="264" name="Google Shape;264;p37"/>
            <p:cNvCxnSpPr/>
            <p:nvPr/>
          </p:nvCxnSpPr>
          <p:spPr>
            <a:xfrm>
              <a:off x="5885925" y="2866475"/>
              <a:ext cx="410400" cy="437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5" name="Google Shape;265;p37"/>
            <p:cNvSpPr txBox="1"/>
            <p:nvPr/>
          </p:nvSpPr>
          <p:spPr>
            <a:xfrm>
              <a:off x="6227907" y="3061959"/>
              <a:ext cx="271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  <a:highlight>
                    <a:srgbClr val="FFFF00"/>
                  </a:highlight>
                </a:rPr>
                <a:t>-ve leading to +ve loss</a:t>
              </a:r>
              <a:endParaRPr i="1" sz="18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266" name="Google Shape;266;p37"/>
          <p:cNvSpPr/>
          <p:nvPr/>
        </p:nvSpPr>
        <p:spPr>
          <a:xfrm>
            <a:off x="4924600" y="2442425"/>
            <a:ext cx="441600" cy="506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00"/>
              <a:t>Phase 1: Create the Reward Model first (via Human Feedback) …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200" y="1142775"/>
            <a:ext cx="5058406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8" title="reward_bot.png"/>
          <p:cNvPicPr preferRelativeResize="0"/>
          <p:nvPr/>
        </p:nvPicPr>
        <p:blipFill rotWithShape="1">
          <a:blip r:embed="rId4">
            <a:alphaModFix/>
          </a:blip>
          <a:srcRect b="0" l="18736" r="11275" t="28556"/>
          <a:stretch/>
        </p:blipFill>
        <p:spPr>
          <a:xfrm flipH="1">
            <a:off x="6583575" y="1291250"/>
            <a:ext cx="981550" cy="99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000"/>
              <a:buFont typeface="Arial"/>
              <a:buNone/>
            </a:pPr>
            <a:r>
              <a:rPr lang="en" sz="2200"/>
              <a:t>Phase 2: Do the RL-based FT (can be PPO-style) …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8203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9"/>
          <p:cNvPicPr preferRelativeResize="0"/>
          <p:nvPr/>
        </p:nvPicPr>
        <p:blipFill rotWithShape="1">
          <a:blip r:embed="rId4">
            <a:alphaModFix/>
          </a:blip>
          <a:srcRect b="76561" l="9871" r="86394" t="17400"/>
          <a:stretch/>
        </p:blipFill>
        <p:spPr>
          <a:xfrm>
            <a:off x="2787418" y="1855700"/>
            <a:ext cx="411992" cy="55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 rotWithShape="1">
          <a:blip r:embed="rId5">
            <a:alphaModFix/>
          </a:blip>
          <a:srcRect b="15315" l="17245" r="18574" t="10627"/>
          <a:stretch/>
        </p:blipFill>
        <p:spPr>
          <a:xfrm>
            <a:off x="3199395" y="1845575"/>
            <a:ext cx="49633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9" title="reward_bot.png"/>
          <p:cNvPicPr preferRelativeResize="0"/>
          <p:nvPr/>
        </p:nvPicPr>
        <p:blipFill rotWithShape="1">
          <a:blip r:embed="rId6">
            <a:alphaModFix/>
          </a:blip>
          <a:srcRect b="0" l="18736" r="11275" t="28556"/>
          <a:stretch/>
        </p:blipFill>
        <p:spPr>
          <a:xfrm>
            <a:off x="3958200" y="3654500"/>
            <a:ext cx="411975" cy="52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current landscape – lot to learn! </a:t>
            </a:r>
            <a:endParaRPr/>
          </a:p>
        </p:txBody>
      </p:sp>
      <p:pic>
        <p:nvPicPr>
          <p:cNvPr id="288" name="Google Shape;2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25" y="1142775"/>
            <a:ext cx="7568728" cy="382097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
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5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909C88-4E8D-43B8-8190-B56D3184EC09}">
  <a:tblStyle styleId="{B8909C88-4E8D-43B8-8190-B56D3184EC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a2cad5f1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a2cad5f1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d2657d67f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d2657d67f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c62513ec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c62513ec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c62513e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c62513e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c62513ecb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c62513ecb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c62513ec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c62513ec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c62513ecb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6c62513ecb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c62513ecb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c62513ecb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c62513ecb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c62513ecb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c62513ec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c62513ecb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c62513ecb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c62513ecb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c62513ecb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c62513ecb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c62513ecb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c62513ecb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c62513ec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c62513ec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d2657d67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d2657d67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c62513ec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c62513ecb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6c62513ec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6c62513ec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c62513ecb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c62513ecb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c62513ecb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6c62513ecb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c62513ec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c62513ec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6c62513ecb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6c62513ecb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c62513ecb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c62513ecb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c62513ec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c62513ec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6c62513ecb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6c62513ecb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c62513ecb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6c62513ecb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b3434abb7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6b3434abb7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6d2657d67f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6d2657d67f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6d2657d67f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6d2657d67f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6d2657d67f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6d2657d67f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c62513ec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c62513ec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c62513ecb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6c62513ecb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c62513ecb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6c62513ecb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d2657d67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6d2657d67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6d2657d67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6d2657d67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d2657d67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d2657d67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d23768c5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6d23768c5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6d2657d67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6d2657d67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d2657d67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6d2657d67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6d2657d67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6d2657d67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d2657d67f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6d2657d67f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d2657d67f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d2657d67f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d2657d67f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d2657d67f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6d2657d67f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6d2657d67f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6d2657d67f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6d2657d67f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6d2657d67f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6d2657d67f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6d2657d67f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6d2657d67f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6d2657d67f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6d2657d67f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6d2657d67f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6d2657d67f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6d2657d67f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6d2657d67f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6b3434abb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6b3434abb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gif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23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pinningup.openai.com/en/latest/spinningup/rl_intro2.html" TargetMode="Externa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image" Target="../media/image55.png"/><Relationship Id="rId5" Type="http://schemas.openxmlformats.org/officeDocument/2006/relationships/image" Target="../media/image50.png"/><Relationship Id="rId10" Type="http://schemas.openxmlformats.org/officeDocument/2006/relationships/image" Target="../media/image54.png"/><Relationship Id="rId4" Type="http://schemas.openxmlformats.org/officeDocument/2006/relationships/image" Target="../media/image49.png"/><Relationship Id="rId9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9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6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ctrTitle"/>
          </p:nvPr>
        </p:nvSpPr>
        <p:spPr>
          <a:xfrm>
            <a:off x="273075" y="507925"/>
            <a:ext cx="8520600" cy="11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/>
              <a:t>Reinforcement Learning based Fine-tuning</a:t>
            </a:r>
            <a:endParaRPr sz="2600" b="1"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1"/>
          </p:nvPr>
        </p:nvSpPr>
        <p:spPr>
          <a:xfrm>
            <a:off x="311700" y="3959528"/>
            <a:ext cx="8520600" cy="9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700" b="1">
                <a:solidFill>
                  <a:srgbClr val="0000FF"/>
                </a:solidFill>
              </a:rPr>
              <a:t>Sourish Dasgupta</a:t>
            </a:r>
            <a:endParaRPr sz="1700" b="1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1600">
                <a:solidFill>
                  <a:srgbClr val="0000FF"/>
                </a:solidFill>
              </a:rPr>
              <a:t>Associate Professor, DAU, Gandhinagar</a:t>
            </a:r>
            <a:endParaRPr sz="160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1600" i="1">
                <a:solidFill>
                  <a:srgbClr val="0000FF"/>
                </a:solidFill>
              </a:rPr>
              <a:t>https://daiict.ac.in/faculty/sourish-dasgupta</a:t>
            </a:r>
            <a:endParaRPr sz="1900" i="1"/>
          </a:p>
        </p:txBody>
      </p:sp>
      <p:pic>
        <p:nvPicPr>
          <p:cNvPr id="101" name="Google Shape;1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9963" y="1908325"/>
            <a:ext cx="2124075" cy="1628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5"/>
          <p:cNvCxnSpPr/>
          <p:nvPr/>
        </p:nvCxnSpPr>
        <p:spPr>
          <a:xfrm>
            <a:off x="8168375" y="4781625"/>
            <a:ext cx="3693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solidFill>
                  <a:srgbClr val="000000"/>
                </a:solidFill>
              </a:rPr>
              <a:t>Why we need to go beyond Instruction-based SFT</a:t>
            </a:r>
            <a:endParaRPr sz="2320" i="1">
              <a:solidFill>
                <a:srgbClr val="FF0000"/>
              </a:solidFill>
              <a:highlight>
                <a:srgbClr val="D9EAD3"/>
              </a:highlight>
            </a:endParaRPr>
          </a:p>
        </p:txBody>
      </p:sp>
      <p:graphicFrame>
        <p:nvGraphicFramePr>
          <p:cNvPr id="108" name="Google Shape;108;p26"/>
          <p:cNvGraphicFramePr/>
          <p:nvPr/>
        </p:nvGraphicFramePr>
        <p:xfrm>
          <a:off x="228600" y="1295400"/>
          <a:ext cx="8679900" cy="3485683"/>
        </p:xfrm>
        <a:graphic>
          <a:graphicData uri="http://schemas.openxmlformats.org/drawingml/2006/table">
            <a:tbl>
              <a:tblPr>
                <a:noFill/>
                <a:tableStyleId>{B8909C88-4E8D-43B8-8190-B56D3184EC09}</a:tableStyleId>
              </a:tblPr>
              <a:tblGrid>
                <a:gridCol w="23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Cause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What can happen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Single-reference loss</a:t>
                      </a:r>
                      <a:r>
                        <a:rPr lang="en"/>
                        <a:t> – cross-entropy scores only one “gold” answer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Teacher-forcing treats any divergence from that answer as error,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even if several answers are equally good</a:t>
                      </a:r>
                      <a:endParaRPr i="1"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Repetition</a:t>
                      </a:r>
                      <a:r>
                        <a:rPr lang="en"/>
                        <a:t> or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generic</a:t>
                      </a:r>
                      <a:r>
                        <a:rPr lang="en"/>
                        <a:t> answers;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no reward for richer explanations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Length bias &amp; brevity reward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Cross-entropy normalises by tokens, so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shorter replies get less loss</a:t>
                      </a:r>
                      <a:r>
                        <a:rPr lang="en"/>
                        <a:t> and dominate training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models often produce terse,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under-informative answers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Hard-coded style / tone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bakes a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fixed style</a:t>
                      </a:r>
                      <a:r>
                        <a:rPr lang="en"/>
                        <a:t> that mirrors the dataset; </a:t>
                      </a:r>
                      <a:r>
                        <a:rPr lang="en" i="1">
                          <a:solidFill>
                            <a:srgbClr val="FF0000"/>
                          </a:solidFill>
                        </a:rPr>
                        <a:t>changing tone means collecting new triples</a:t>
                      </a:r>
                      <a:endParaRPr i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can’t easily be made more formal, shorter, etc.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Limited long-horizon control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Token-level CE sees only one turn;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multi-turn goals receive no direct signal</a:t>
                      </a:r>
                      <a:r>
                        <a:rPr lang="en"/>
                        <a:t> ﻿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Incoherent or </a:t>
                      </a:r>
                      <a:r>
                        <a:rPr lang="en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contradictory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multi-turn chats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Learning: Building Blocks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The Game of </a:t>
            </a:r>
            <a:r>
              <a:rPr lang="en" sz="2520">
                <a:solidFill>
                  <a:srgbClr val="FF0000"/>
                </a:solidFill>
              </a:rPr>
              <a:t>“Treasure Hunt”</a:t>
            </a:r>
            <a:endParaRPr sz="2520"/>
          </a:p>
        </p:txBody>
      </p:sp>
      <p:pic>
        <p:nvPicPr>
          <p:cNvPr id="119" name="Google Shape;119;p28"/>
          <p:cNvPicPr preferRelativeResize="0"/>
          <p:nvPr/>
        </p:nvPicPr>
        <p:blipFill rotWithShape="1">
          <a:blip r:embed="rId3">
            <a:alphaModFix/>
          </a:blip>
          <a:srcRect t="16113" r="72948" b="52100"/>
          <a:stretch/>
        </p:blipFill>
        <p:spPr>
          <a:xfrm>
            <a:off x="311700" y="1416450"/>
            <a:ext cx="3467576" cy="3379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8"/>
          <p:cNvPicPr preferRelativeResize="0"/>
          <p:nvPr/>
        </p:nvPicPr>
        <p:blipFill rotWithShape="1">
          <a:blip r:embed="rId4">
            <a:alphaModFix/>
          </a:blip>
          <a:srcRect l="27534" r="25696"/>
          <a:stretch/>
        </p:blipFill>
        <p:spPr>
          <a:xfrm>
            <a:off x="4258075" y="1183800"/>
            <a:ext cx="3939700" cy="3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Agent plans in an </a:t>
            </a:r>
            <a:r>
              <a:rPr lang="en" sz="2520">
                <a:solidFill>
                  <a:srgbClr val="FF0000"/>
                </a:solidFill>
              </a:rPr>
              <a:t>Environment (good/bad/ugly)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26" name="Google Shape;126;p29"/>
          <p:cNvPicPr preferRelativeResize="0"/>
          <p:nvPr/>
        </p:nvPicPr>
        <p:blipFill rotWithShape="1">
          <a:blip r:embed="rId3">
            <a:alphaModFix/>
          </a:blip>
          <a:srcRect t="16113" r="72948" b="52100"/>
          <a:stretch/>
        </p:blipFill>
        <p:spPr>
          <a:xfrm>
            <a:off x="7765300" y="144250"/>
            <a:ext cx="1067000" cy="10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/>
          <p:cNvPicPr preferRelativeResize="0"/>
          <p:nvPr/>
        </p:nvPicPr>
        <p:blipFill rotWithShape="1">
          <a:blip r:embed="rId4">
            <a:alphaModFix/>
          </a:blip>
          <a:srcRect l="27534" r="25696"/>
          <a:stretch/>
        </p:blipFill>
        <p:spPr>
          <a:xfrm>
            <a:off x="188600" y="1840400"/>
            <a:ext cx="2421100" cy="23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9"/>
          <p:cNvPicPr preferRelativeResize="0"/>
          <p:nvPr/>
        </p:nvPicPr>
        <p:blipFill rotWithShape="1">
          <a:blip r:embed="rId5">
            <a:alphaModFix/>
          </a:blip>
          <a:srcRect l="5518" t="65078"/>
          <a:stretch/>
        </p:blipFill>
        <p:spPr>
          <a:xfrm>
            <a:off x="2914800" y="1457500"/>
            <a:ext cx="5917501" cy="1898776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9" name="Google Shape;12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1100" y="3629725"/>
            <a:ext cx="6359601" cy="1138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In each state Agent has a </a:t>
            </a:r>
            <a:r>
              <a:rPr lang="en" sz="2520">
                <a:solidFill>
                  <a:srgbClr val="FF0000"/>
                </a:solidFill>
              </a:rPr>
              <a:t>policy (what to do)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35" name="Google Shape;135;p30"/>
          <p:cNvPicPr preferRelativeResize="0"/>
          <p:nvPr/>
        </p:nvPicPr>
        <p:blipFill rotWithShape="1">
          <a:blip r:embed="rId3">
            <a:alphaModFix/>
          </a:blip>
          <a:srcRect t="16113" r="72948" b="52100"/>
          <a:stretch/>
        </p:blipFill>
        <p:spPr>
          <a:xfrm>
            <a:off x="7765300" y="144250"/>
            <a:ext cx="1067000" cy="10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0"/>
          <p:cNvPicPr preferRelativeResize="0"/>
          <p:nvPr/>
        </p:nvPicPr>
        <p:blipFill rotWithShape="1">
          <a:blip r:embed="rId4">
            <a:alphaModFix/>
          </a:blip>
          <a:srcRect l="27534" r="25696"/>
          <a:stretch/>
        </p:blipFill>
        <p:spPr>
          <a:xfrm>
            <a:off x="215950" y="1676250"/>
            <a:ext cx="2575925" cy="25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0"/>
          <p:cNvPicPr preferRelativeResize="0"/>
          <p:nvPr/>
        </p:nvPicPr>
        <p:blipFill rotWithShape="1">
          <a:blip r:embed="rId5">
            <a:alphaModFix/>
          </a:blip>
          <a:srcRect r="12258" b="74518"/>
          <a:stretch/>
        </p:blipFill>
        <p:spPr>
          <a:xfrm>
            <a:off x="2791875" y="2032875"/>
            <a:ext cx="6004050" cy="4737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38" name="Google Shape;138;p30"/>
          <p:cNvGrpSpPr/>
          <p:nvPr/>
        </p:nvGrpSpPr>
        <p:grpSpPr>
          <a:xfrm>
            <a:off x="2846600" y="2420200"/>
            <a:ext cx="5706900" cy="1619300"/>
            <a:chOff x="2846600" y="2420200"/>
            <a:chExt cx="5706900" cy="1619300"/>
          </a:xfrm>
        </p:grpSpPr>
        <p:cxnSp>
          <p:nvCxnSpPr>
            <p:cNvPr id="139" name="Google Shape;139;p30"/>
            <p:cNvCxnSpPr/>
            <p:nvPr/>
          </p:nvCxnSpPr>
          <p:spPr>
            <a:xfrm>
              <a:off x="2846600" y="2420200"/>
              <a:ext cx="618000" cy="8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Google Shape;140;p30"/>
            <p:cNvCxnSpPr/>
            <p:nvPr/>
          </p:nvCxnSpPr>
          <p:spPr>
            <a:xfrm>
              <a:off x="3259450" y="2442425"/>
              <a:ext cx="1026000" cy="10260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" name="Google Shape;141;p30"/>
            <p:cNvSpPr txBox="1"/>
            <p:nvPr/>
          </p:nvSpPr>
          <p:spPr>
            <a:xfrm>
              <a:off x="2846600" y="3577800"/>
              <a:ext cx="5706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May not be the best (optimal) → </a:t>
              </a:r>
              <a:r>
                <a:rPr lang="en" sz="1800">
                  <a:solidFill>
                    <a:schemeClr val="dk2"/>
                  </a:solidFill>
                  <a:highlight>
                    <a:srgbClr val="FFFF00"/>
                  </a:highlight>
                </a:rPr>
                <a:t>that’s the goal</a:t>
              </a:r>
              <a:endParaRPr sz="1800">
                <a:solidFill>
                  <a:schemeClr val="dk2"/>
                </a:solidFill>
                <a:highlight>
                  <a:srgbClr val="FFFF00"/>
                </a:highlight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Agent’s action has a </a:t>
            </a:r>
            <a:r>
              <a:rPr lang="en" sz="2520">
                <a:solidFill>
                  <a:srgbClr val="FF0000"/>
                </a:solidFill>
              </a:rPr>
              <a:t>consequence (Reward)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47" name="Google Shape;147;p31"/>
          <p:cNvPicPr preferRelativeResize="0"/>
          <p:nvPr/>
        </p:nvPicPr>
        <p:blipFill rotWithShape="1">
          <a:blip r:embed="rId3">
            <a:alphaModFix/>
          </a:blip>
          <a:srcRect t="16113" r="72948" b="52100"/>
          <a:stretch/>
        </p:blipFill>
        <p:spPr>
          <a:xfrm>
            <a:off x="7765300" y="144250"/>
            <a:ext cx="1067000" cy="10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1"/>
          <p:cNvPicPr preferRelativeResize="0"/>
          <p:nvPr/>
        </p:nvPicPr>
        <p:blipFill rotWithShape="1">
          <a:blip r:embed="rId4">
            <a:alphaModFix/>
          </a:blip>
          <a:srcRect l="27534" r="25696"/>
          <a:stretch/>
        </p:blipFill>
        <p:spPr>
          <a:xfrm>
            <a:off x="65450" y="2571750"/>
            <a:ext cx="2435175" cy="23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5475" y="1785700"/>
            <a:ext cx="6328226" cy="9276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0" name="Google Shape;150;p31"/>
          <p:cNvCxnSpPr/>
          <p:nvPr/>
        </p:nvCxnSpPr>
        <p:spPr>
          <a:xfrm>
            <a:off x="2575475" y="2374025"/>
            <a:ext cx="11355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Because of rewards Agent </a:t>
            </a:r>
            <a:r>
              <a:rPr lang="en" sz="2220" i="1" u="sng">
                <a:solidFill>
                  <a:srgbClr val="FF0000"/>
                </a:solidFill>
              </a:rPr>
              <a:t>can</a:t>
            </a:r>
            <a:r>
              <a:rPr lang="en" sz="2220"/>
              <a:t> be in </a:t>
            </a:r>
            <a:r>
              <a:rPr lang="en" sz="2220">
                <a:solidFill>
                  <a:srgbClr val="FF0000"/>
                </a:solidFill>
              </a:rPr>
              <a:t>good/bad/ugly state (Value)</a:t>
            </a:r>
            <a:endParaRPr sz="2220">
              <a:solidFill>
                <a:srgbClr val="FF0000"/>
              </a:solidFill>
            </a:endParaRPr>
          </a:p>
        </p:txBody>
      </p:sp>
      <p:pic>
        <p:nvPicPr>
          <p:cNvPr id="156" name="Google Shape;156;p32"/>
          <p:cNvPicPr preferRelativeResize="0"/>
          <p:nvPr/>
        </p:nvPicPr>
        <p:blipFill rotWithShape="1">
          <a:blip r:embed="rId3">
            <a:alphaModFix/>
          </a:blip>
          <a:srcRect t="16113" r="72948" b="52100"/>
          <a:stretch/>
        </p:blipFill>
        <p:spPr>
          <a:xfrm>
            <a:off x="7929450" y="3898625"/>
            <a:ext cx="1067000" cy="10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2"/>
          <p:cNvPicPr preferRelativeResize="0"/>
          <p:nvPr/>
        </p:nvPicPr>
        <p:blipFill rotWithShape="1">
          <a:blip r:embed="rId4">
            <a:alphaModFix/>
          </a:blip>
          <a:srcRect l="27534" r="25696"/>
          <a:stretch/>
        </p:blipFill>
        <p:spPr>
          <a:xfrm>
            <a:off x="65450" y="2571750"/>
            <a:ext cx="2435175" cy="23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300" y="1199425"/>
            <a:ext cx="7858125" cy="119062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38761D">
                <a:alpha val="50000"/>
              </a:srgbClr>
            </a:outerShdw>
          </a:effectLst>
        </p:spPr>
      </p:pic>
      <p:cxnSp>
        <p:nvCxnSpPr>
          <p:cNvPr id="159" name="Google Shape;159;p32"/>
          <p:cNvCxnSpPr/>
          <p:nvPr/>
        </p:nvCxnSpPr>
        <p:spPr>
          <a:xfrm>
            <a:off x="3026900" y="1566925"/>
            <a:ext cx="3953400" cy="27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(Finite) Markov Decision Process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An example </a:t>
            </a:r>
            <a:r>
              <a:rPr lang="en" sz="2520">
                <a:solidFill>
                  <a:srgbClr val="FF0000"/>
                </a:solidFill>
              </a:rPr>
              <a:t>Finite Markov Decision Process (MDP)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70" name="Google Shape;170;p34"/>
          <p:cNvPicPr preferRelativeResize="0"/>
          <p:nvPr/>
        </p:nvPicPr>
        <p:blipFill rotWithShape="1">
          <a:blip r:embed="rId3">
            <a:alphaModFix/>
          </a:blip>
          <a:srcRect l="2645" t="2865" r="4883"/>
          <a:stretch/>
        </p:blipFill>
        <p:spPr>
          <a:xfrm>
            <a:off x="85750" y="1854200"/>
            <a:ext cx="5005426" cy="295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4"/>
          <p:cNvPicPr preferRelativeResize="0"/>
          <p:nvPr/>
        </p:nvPicPr>
        <p:blipFill rotWithShape="1">
          <a:blip r:embed="rId4">
            <a:alphaModFix/>
          </a:blip>
          <a:srcRect b="62291"/>
          <a:stretch/>
        </p:blipFill>
        <p:spPr>
          <a:xfrm>
            <a:off x="4409750" y="1170150"/>
            <a:ext cx="4121576" cy="1636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solidFill>
                  <a:srgbClr val="FF0000"/>
                </a:solidFill>
              </a:rPr>
              <a:t>Markov Processes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3">
            <a:alphaModFix/>
          </a:blip>
          <a:srcRect l="2645" t="2865" r="4883"/>
          <a:stretch/>
        </p:blipFill>
        <p:spPr>
          <a:xfrm>
            <a:off x="140500" y="3229550"/>
            <a:ext cx="2972874" cy="17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4999" y="1115425"/>
            <a:ext cx="5698476" cy="238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5776" y="3833847"/>
            <a:ext cx="4779300" cy="3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75" y="1840675"/>
            <a:ext cx="7167444" cy="3180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5" name="Google Shape;18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Why </a:t>
            </a:r>
            <a:r>
              <a:rPr lang="en" sz="2520">
                <a:solidFill>
                  <a:srgbClr val="FF0000"/>
                </a:solidFill>
              </a:rPr>
              <a:t>“Markov”?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186" name="Google Shape;18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125" y="144175"/>
            <a:ext cx="3413550" cy="14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7325" y="3083800"/>
            <a:ext cx="6570000" cy="69462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because of MDP Assumption 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solidFill>
                  <a:srgbClr val="FF0000"/>
                </a:solidFill>
              </a:rPr>
              <a:t>Environment </a:t>
            </a:r>
            <a:r>
              <a:rPr lang="en" sz="2520"/>
              <a:t>provides </a:t>
            </a:r>
            <a:r>
              <a:rPr lang="en" sz="2520">
                <a:solidFill>
                  <a:srgbClr val="FF0000"/>
                </a:solidFill>
              </a:rPr>
              <a:t>“Reward” </a:t>
            </a:r>
            <a:r>
              <a:rPr lang="en" sz="2520"/>
              <a:t>when Agent arrives at s’</a:t>
            </a:r>
            <a:endParaRPr sz="2520"/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225" y="1677713"/>
            <a:ext cx="7347700" cy="7524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99" name="Google Shape;199;p38"/>
          <p:cNvGrpSpPr/>
          <p:nvPr/>
        </p:nvGrpSpPr>
        <p:grpSpPr>
          <a:xfrm>
            <a:off x="1365686" y="2430188"/>
            <a:ext cx="5964500" cy="1614794"/>
            <a:chOff x="1365686" y="2811188"/>
            <a:chExt cx="5964500" cy="1614794"/>
          </a:xfrm>
        </p:grpSpPr>
        <p:pic>
          <p:nvPicPr>
            <p:cNvPr id="200" name="Google Shape;20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65686" y="3483457"/>
              <a:ext cx="5964500" cy="94252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201" name="Google Shape;201;p38"/>
            <p:cNvCxnSpPr>
              <a:stCxn id="198" idx="2"/>
              <a:endCxn id="200" idx="0"/>
            </p:cNvCxnSpPr>
            <p:nvPr/>
          </p:nvCxnSpPr>
          <p:spPr>
            <a:xfrm>
              <a:off x="4346075" y="2811188"/>
              <a:ext cx="1800" cy="6723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2" name="Google Shape;202;p38"/>
          <p:cNvGrpSpPr/>
          <p:nvPr/>
        </p:nvGrpSpPr>
        <p:grpSpPr>
          <a:xfrm>
            <a:off x="4347936" y="4044982"/>
            <a:ext cx="3576289" cy="612143"/>
            <a:chOff x="4347936" y="4425982"/>
            <a:chExt cx="3576289" cy="612143"/>
          </a:xfrm>
        </p:grpSpPr>
        <p:cxnSp>
          <p:nvCxnSpPr>
            <p:cNvPr id="203" name="Google Shape;203;p38"/>
            <p:cNvCxnSpPr/>
            <p:nvPr/>
          </p:nvCxnSpPr>
          <p:spPr>
            <a:xfrm>
              <a:off x="4347936" y="4425982"/>
              <a:ext cx="471000" cy="3009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4" name="Google Shape;204;p38"/>
            <p:cNvSpPr txBox="1"/>
            <p:nvPr/>
          </p:nvSpPr>
          <p:spPr>
            <a:xfrm>
              <a:off x="4818925" y="4576425"/>
              <a:ext cx="310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Can be deterministic as well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Agent needs to maximize </a:t>
            </a:r>
            <a:r>
              <a:rPr lang="en" sz="2520">
                <a:solidFill>
                  <a:srgbClr val="FF0000"/>
                </a:solidFill>
              </a:rPr>
              <a:t>“Return”?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338" y="2442325"/>
            <a:ext cx="8295317" cy="950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40"/>
          <p:cNvPicPr preferRelativeResize="0"/>
          <p:nvPr/>
        </p:nvPicPr>
        <p:blipFill rotWithShape="1">
          <a:blip r:embed="rId3">
            <a:alphaModFix/>
          </a:blip>
          <a:srcRect l="2645" t="2865" r="4883"/>
          <a:stretch/>
        </p:blipFill>
        <p:spPr>
          <a:xfrm>
            <a:off x="140500" y="3003275"/>
            <a:ext cx="3474625" cy="205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How good is a state = How good is the </a:t>
            </a:r>
            <a:r>
              <a:rPr lang="en" sz="2420">
                <a:solidFill>
                  <a:srgbClr val="FF0000"/>
                </a:solidFill>
              </a:rPr>
              <a:t>“Expected Return”?</a:t>
            </a:r>
            <a:endParaRPr sz="2420">
              <a:solidFill>
                <a:srgbClr val="FF0000"/>
              </a:solidFill>
            </a:endParaRPr>
          </a:p>
        </p:txBody>
      </p:sp>
      <p:pic>
        <p:nvPicPr>
          <p:cNvPr id="217" name="Google Shape;21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25" y="1748338"/>
            <a:ext cx="6236425" cy="10223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What “Markov” means is </a:t>
            </a:r>
            <a:r>
              <a:rPr lang="en" sz="2420">
                <a:solidFill>
                  <a:srgbClr val="FF0000"/>
                </a:solidFill>
              </a:rPr>
              <a:t>how good is the next state</a:t>
            </a:r>
            <a:endParaRPr sz="2420">
              <a:solidFill>
                <a:srgbClr val="FF0000"/>
              </a:solidFill>
            </a:endParaRPr>
          </a:p>
        </p:txBody>
      </p:sp>
      <p:pic>
        <p:nvPicPr>
          <p:cNvPr id="223" name="Google Shape;2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27113"/>
            <a:ext cx="8204275" cy="8892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4" name="Google Shape;22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88" y="3728200"/>
            <a:ext cx="8295317" cy="9502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25" name="Google Shape;225;p41"/>
          <p:cNvGrpSpPr/>
          <p:nvPr/>
        </p:nvGrpSpPr>
        <p:grpSpPr>
          <a:xfrm>
            <a:off x="2575475" y="2880150"/>
            <a:ext cx="4076400" cy="1956275"/>
            <a:chOff x="2575475" y="2880150"/>
            <a:chExt cx="4076400" cy="1956275"/>
          </a:xfrm>
        </p:grpSpPr>
        <p:sp>
          <p:nvSpPr>
            <p:cNvPr id="226" name="Google Shape;226;p41"/>
            <p:cNvSpPr/>
            <p:nvPr/>
          </p:nvSpPr>
          <p:spPr>
            <a:xfrm>
              <a:off x="2575475" y="3564125"/>
              <a:ext cx="4076400" cy="12723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7" name="Google Shape;227;p41"/>
            <p:cNvCxnSpPr/>
            <p:nvPr/>
          </p:nvCxnSpPr>
          <p:spPr>
            <a:xfrm>
              <a:off x="5119675" y="2907450"/>
              <a:ext cx="629400" cy="6702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8" name="Google Shape;228;p41"/>
            <p:cNvCxnSpPr/>
            <p:nvPr/>
          </p:nvCxnSpPr>
          <p:spPr>
            <a:xfrm>
              <a:off x="4654775" y="2880150"/>
              <a:ext cx="1422600" cy="273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9" name="Google Shape;229;p41"/>
          <p:cNvGrpSpPr/>
          <p:nvPr/>
        </p:nvGrpSpPr>
        <p:grpSpPr>
          <a:xfrm>
            <a:off x="6843475" y="1017725"/>
            <a:ext cx="2175000" cy="1109400"/>
            <a:chOff x="6843475" y="1017725"/>
            <a:chExt cx="2175000" cy="1109400"/>
          </a:xfrm>
        </p:grpSpPr>
        <p:cxnSp>
          <p:nvCxnSpPr>
            <p:cNvPr id="230" name="Google Shape;230;p41"/>
            <p:cNvCxnSpPr>
              <a:endCxn id="231" idx="2"/>
            </p:cNvCxnSpPr>
            <p:nvPr/>
          </p:nvCxnSpPr>
          <p:spPr>
            <a:xfrm rot="10800000">
              <a:off x="7930975" y="1510325"/>
              <a:ext cx="217500" cy="616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1" name="Google Shape;231;p41"/>
            <p:cNvSpPr txBox="1"/>
            <p:nvPr/>
          </p:nvSpPr>
          <p:spPr>
            <a:xfrm>
              <a:off x="6843475" y="1017725"/>
              <a:ext cx="2175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2"/>
                  </a:solidFill>
                </a:rPr>
                <a:t>Bellman Equation</a:t>
              </a:r>
              <a:endParaRPr sz="2000">
                <a:solidFill>
                  <a:schemeClr val="dk2"/>
                </a:solidFill>
              </a:endParaRPr>
            </a:p>
          </p:txBody>
        </p:sp>
      </p:grpSp>
      <p:pic>
        <p:nvPicPr>
          <p:cNvPr id="232" name="Google Shape;232;p41"/>
          <p:cNvPicPr preferRelativeResize="0"/>
          <p:nvPr/>
        </p:nvPicPr>
        <p:blipFill rotWithShape="1">
          <a:blip r:embed="rId5">
            <a:alphaModFix/>
          </a:blip>
          <a:srcRect l="2048" t="35500" r="3129" b="13959"/>
          <a:stretch/>
        </p:blipFill>
        <p:spPr>
          <a:xfrm>
            <a:off x="1111750" y="1083450"/>
            <a:ext cx="4076399" cy="910599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33" name="Google Shape;233;p41"/>
          <p:cNvGrpSpPr/>
          <p:nvPr/>
        </p:nvGrpSpPr>
        <p:grpSpPr>
          <a:xfrm>
            <a:off x="537000" y="1097375"/>
            <a:ext cx="1928975" cy="1949425"/>
            <a:chOff x="537000" y="1097375"/>
            <a:chExt cx="1928975" cy="1949425"/>
          </a:xfrm>
        </p:grpSpPr>
        <p:sp>
          <p:nvSpPr>
            <p:cNvPr id="234" name="Google Shape;234;p41"/>
            <p:cNvSpPr/>
            <p:nvPr/>
          </p:nvSpPr>
          <p:spPr>
            <a:xfrm>
              <a:off x="1987175" y="1097375"/>
              <a:ext cx="478800" cy="950100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1"/>
            <p:cNvSpPr/>
            <p:nvPr/>
          </p:nvSpPr>
          <p:spPr>
            <a:xfrm>
              <a:off x="537000" y="2096700"/>
              <a:ext cx="1122000" cy="950100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41"/>
          <p:cNvSpPr/>
          <p:nvPr/>
        </p:nvSpPr>
        <p:spPr>
          <a:xfrm>
            <a:off x="2796175" y="1097375"/>
            <a:ext cx="1284000" cy="950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2"/>
          <p:cNvPicPr preferRelativeResize="0"/>
          <p:nvPr/>
        </p:nvPicPr>
        <p:blipFill rotWithShape="1">
          <a:blip r:embed="rId3">
            <a:alphaModFix/>
          </a:blip>
          <a:srcRect l="2645" t="2865" r="4883"/>
          <a:stretch/>
        </p:blipFill>
        <p:spPr>
          <a:xfrm>
            <a:off x="140500" y="3003275"/>
            <a:ext cx="3355674" cy="19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How good is a state = How good is the </a:t>
            </a:r>
            <a:r>
              <a:rPr lang="en" sz="2420">
                <a:solidFill>
                  <a:srgbClr val="FF0000"/>
                </a:solidFill>
              </a:rPr>
              <a:t>“Expected Return”?</a:t>
            </a:r>
            <a:endParaRPr sz="2420">
              <a:solidFill>
                <a:srgbClr val="FF0000"/>
              </a:solidFill>
            </a:endParaRPr>
          </a:p>
        </p:txBody>
      </p:sp>
      <p:pic>
        <p:nvPicPr>
          <p:cNvPr id="243" name="Google Shape;24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825" y="1748338"/>
            <a:ext cx="6236425" cy="10223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44" name="Google Shape;244;p42"/>
          <p:cNvGrpSpPr/>
          <p:nvPr/>
        </p:nvGrpSpPr>
        <p:grpSpPr>
          <a:xfrm>
            <a:off x="3496163" y="2770700"/>
            <a:ext cx="5389725" cy="1860475"/>
            <a:chOff x="1877138" y="2579200"/>
            <a:chExt cx="5389725" cy="1860475"/>
          </a:xfrm>
        </p:grpSpPr>
        <p:pic>
          <p:nvPicPr>
            <p:cNvPr id="245" name="Google Shape;245;p42"/>
            <p:cNvPicPr preferRelativeResize="0"/>
            <p:nvPr/>
          </p:nvPicPr>
          <p:blipFill rotWithShape="1">
            <a:blip r:embed="rId5">
              <a:alphaModFix/>
            </a:blip>
            <a:srcRect l="20772" t="8189" r="1370"/>
            <a:stretch/>
          </p:blipFill>
          <p:spPr>
            <a:xfrm>
              <a:off x="1877138" y="3304300"/>
              <a:ext cx="5389725" cy="113537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246" name="Google Shape;246;p42"/>
            <p:cNvCxnSpPr/>
            <p:nvPr/>
          </p:nvCxnSpPr>
          <p:spPr>
            <a:xfrm>
              <a:off x="4559000" y="2579200"/>
              <a:ext cx="27300" cy="725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What would be the state-to-action mapping (</a:t>
            </a:r>
            <a:r>
              <a:rPr lang="en" sz="2520">
                <a:solidFill>
                  <a:srgbClr val="FF0000"/>
                </a:solidFill>
              </a:rPr>
              <a:t>Policy</a:t>
            </a:r>
            <a:r>
              <a:rPr lang="en" sz="2520"/>
              <a:t>)?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252" name="Google Shape;2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25" y="1354188"/>
            <a:ext cx="8204275" cy="8892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53" name="Google Shape;253;p43"/>
          <p:cNvGrpSpPr/>
          <p:nvPr/>
        </p:nvGrpSpPr>
        <p:grpSpPr>
          <a:xfrm>
            <a:off x="383311" y="2243462"/>
            <a:ext cx="8170902" cy="1978613"/>
            <a:chOff x="383311" y="2243462"/>
            <a:chExt cx="8170902" cy="1978613"/>
          </a:xfrm>
        </p:grpSpPr>
        <p:pic>
          <p:nvPicPr>
            <p:cNvPr id="254" name="Google Shape;25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3311" y="3332825"/>
              <a:ext cx="8170902" cy="8892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5" name="Google Shape;255;p43"/>
            <p:cNvCxnSpPr>
              <a:stCxn id="252" idx="2"/>
              <a:endCxn id="254" idx="0"/>
            </p:cNvCxnSpPr>
            <p:nvPr/>
          </p:nvCxnSpPr>
          <p:spPr>
            <a:xfrm>
              <a:off x="4468762" y="2243462"/>
              <a:ext cx="0" cy="10893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56" name="Google Shape;256;p43"/>
          <p:cNvGrpSpPr/>
          <p:nvPr/>
        </p:nvGrpSpPr>
        <p:grpSpPr>
          <a:xfrm>
            <a:off x="756100" y="2571750"/>
            <a:ext cx="3734400" cy="1252175"/>
            <a:chOff x="756100" y="2571750"/>
            <a:chExt cx="3734400" cy="1252175"/>
          </a:xfrm>
        </p:grpSpPr>
        <p:sp>
          <p:nvSpPr>
            <p:cNvPr id="257" name="Google Shape;257;p43"/>
            <p:cNvSpPr/>
            <p:nvPr/>
          </p:nvSpPr>
          <p:spPr>
            <a:xfrm>
              <a:off x="974975" y="3564125"/>
              <a:ext cx="219000" cy="2598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8" name="Google Shape;258;p43"/>
            <p:cNvCxnSpPr>
              <a:stCxn id="257" idx="0"/>
            </p:cNvCxnSpPr>
            <p:nvPr/>
          </p:nvCxnSpPr>
          <p:spPr>
            <a:xfrm rot="10800000" flipH="1">
              <a:off x="1084475" y="3030725"/>
              <a:ext cx="218700" cy="533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9" name="Google Shape;259;p43"/>
            <p:cNvSpPr txBox="1"/>
            <p:nvPr/>
          </p:nvSpPr>
          <p:spPr>
            <a:xfrm>
              <a:off x="756100" y="2571750"/>
              <a:ext cx="3734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FF0000"/>
                  </a:solidFill>
                </a:rPr>
                <a:t>Policy</a:t>
              </a:r>
              <a:r>
                <a:rPr lang="en" sz="1800">
                  <a:solidFill>
                    <a:schemeClr val="dk2"/>
                  </a:solidFill>
                </a:rPr>
                <a:t> → </a:t>
              </a:r>
              <a:r>
                <a:rPr lang="en" sz="1800" i="1">
                  <a:solidFill>
                    <a:schemeClr val="dk2"/>
                  </a:solidFill>
                </a:rPr>
                <a:t>may not be optimal (yet</a:t>
              </a:r>
              <a:r>
                <a:rPr lang="en" sz="1800">
                  <a:solidFill>
                    <a:schemeClr val="dk2"/>
                  </a:solidFill>
                </a:rPr>
                <a:t>)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What exactly is a </a:t>
            </a:r>
            <a:r>
              <a:rPr lang="en" sz="2520">
                <a:solidFill>
                  <a:srgbClr val="FF0000"/>
                </a:solidFill>
              </a:rPr>
              <a:t>Policy</a:t>
            </a:r>
            <a:r>
              <a:rPr lang="en" sz="2520"/>
              <a:t>?</a:t>
            </a:r>
            <a:endParaRPr sz="2520">
              <a:solidFill>
                <a:srgbClr val="FF0000"/>
              </a:solidFill>
            </a:endParaRPr>
          </a:p>
        </p:txBody>
      </p:sp>
      <p:graphicFrame>
        <p:nvGraphicFramePr>
          <p:cNvPr id="265" name="Google Shape;265;p44"/>
          <p:cNvGraphicFramePr/>
          <p:nvPr/>
        </p:nvGraphicFramePr>
        <p:xfrm>
          <a:off x="494375" y="1752900"/>
          <a:ext cx="7748475" cy="2357605"/>
        </p:xfrm>
        <a:graphic>
          <a:graphicData uri="http://schemas.openxmlformats.org/drawingml/2006/table">
            <a:tbl>
              <a:tblPr>
                <a:noFill/>
                <a:tableStyleId>{B8909C88-4E8D-43B8-8190-B56D3184EC09}</a:tableStyleId>
              </a:tblPr>
              <a:tblGrid>
                <a:gridCol w="354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state ↓ / action →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Up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Down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Left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Right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a</a:t>
                      </a:r>
                      <a:r>
                        <a:rPr lang="en" sz="1800"/>
                        <a:t> (start)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FF0000"/>
                          </a:solidFill>
                        </a:rPr>
                        <a:t>1.00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b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0.00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0.70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FF0000"/>
                          </a:solidFill>
                        </a:rPr>
                        <a:t>0.30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c</a:t>
                      </a:r>
                      <a:endParaRPr sz="18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FF0000"/>
                          </a:solidFill>
                        </a:rPr>
                        <a:t>1.00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0.00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/>
                        <a:t>d</a:t>
                      </a:r>
                      <a:r>
                        <a:rPr lang="en" sz="1800"/>
                        <a:t> (goal)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0000"/>
                          </a:solidFill>
                        </a:rPr>
                        <a:t>0.25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0000"/>
                          </a:solidFill>
                        </a:rPr>
                        <a:t>0.25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0000"/>
                          </a:solidFill>
                        </a:rPr>
                        <a:t>0.25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0000"/>
                          </a:solidFill>
                        </a:rPr>
                        <a:t>0.25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6" name="Google Shape;266;p44"/>
          <p:cNvSpPr txBox="1"/>
          <p:nvPr/>
        </p:nvSpPr>
        <p:spPr>
          <a:xfrm>
            <a:off x="494375" y="4413500"/>
            <a:ext cx="749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It’s essentially a probability transition table (</a:t>
            </a:r>
            <a:r>
              <a:rPr lang="en" sz="1800" i="1">
                <a:solidFill>
                  <a:srgbClr val="FF0000"/>
                </a:solidFill>
              </a:rPr>
              <a:t>that might need </a:t>
            </a:r>
            <a:r>
              <a:rPr lang="en" sz="1800" i="1" u="sng">
                <a:solidFill>
                  <a:srgbClr val="FF0000"/>
                </a:solidFill>
              </a:rPr>
              <a:t>fixing</a:t>
            </a:r>
            <a:r>
              <a:rPr lang="en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7" name="Google Shape;26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525" y="157925"/>
            <a:ext cx="1266524" cy="126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is </a:t>
            </a:r>
            <a:r>
              <a:rPr lang="en" sz="2320">
                <a:solidFill>
                  <a:srgbClr val="FF0000"/>
                </a:solidFill>
              </a:rPr>
              <a:t>Policy Update</a:t>
            </a:r>
            <a:r>
              <a:rPr lang="en" sz="2320"/>
              <a:t> for an LLM (in the context of RL-tuning)?</a:t>
            </a:r>
            <a:endParaRPr sz="2320">
              <a:solidFill>
                <a:srgbClr val="FF0000"/>
              </a:solidFill>
            </a:endParaRPr>
          </a:p>
        </p:txBody>
      </p:sp>
      <p:pic>
        <p:nvPicPr>
          <p:cNvPr id="278" name="Google Shape;2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8175" y="1306925"/>
            <a:ext cx="6273276" cy="3447325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9" name="Google Shape;27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50" y="3583000"/>
            <a:ext cx="1556425" cy="11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6"/>
          <p:cNvSpPr txBox="1"/>
          <p:nvPr/>
        </p:nvSpPr>
        <p:spPr>
          <a:xfrm>
            <a:off x="5417075" y="4199600"/>
            <a:ext cx="142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FF0000"/>
                </a:solidFill>
              </a:rPr>
              <a:t>needs </a:t>
            </a:r>
            <a:r>
              <a:rPr lang="en" sz="1800" i="1" u="sng">
                <a:solidFill>
                  <a:srgbClr val="FF0000"/>
                </a:solidFill>
              </a:rPr>
              <a:t>fixing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What would be the </a:t>
            </a:r>
            <a:r>
              <a:rPr lang="en" sz="2520">
                <a:solidFill>
                  <a:srgbClr val="38761D"/>
                </a:solidFill>
              </a:rPr>
              <a:t>Optimal Policy</a:t>
            </a:r>
            <a:r>
              <a:rPr lang="en" sz="2520"/>
              <a:t>?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286" name="Google Shape;28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61" y="1295400"/>
            <a:ext cx="8170902" cy="88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47"/>
          <p:cNvGrpSpPr/>
          <p:nvPr/>
        </p:nvGrpSpPr>
        <p:grpSpPr>
          <a:xfrm>
            <a:off x="311700" y="2244350"/>
            <a:ext cx="8239800" cy="1800425"/>
            <a:chOff x="311700" y="2244350"/>
            <a:chExt cx="8239800" cy="1800425"/>
          </a:xfrm>
        </p:grpSpPr>
        <p:cxnSp>
          <p:nvCxnSpPr>
            <p:cNvPr id="288" name="Google Shape;288;p47"/>
            <p:cNvCxnSpPr/>
            <p:nvPr/>
          </p:nvCxnSpPr>
          <p:spPr>
            <a:xfrm>
              <a:off x="4249887" y="2244350"/>
              <a:ext cx="0" cy="10893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289" name="Google Shape;28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1700" y="3333650"/>
              <a:ext cx="8239800" cy="711125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90" name="Google Shape;290;p47"/>
          <p:cNvGrpSpPr/>
          <p:nvPr/>
        </p:nvGrpSpPr>
        <p:grpSpPr>
          <a:xfrm>
            <a:off x="494275" y="2503325"/>
            <a:ext cx="4296734" cy="1168389"/>
            <a:chOff x="494275" y="2503325"/>
            <a:chExt cx="4296734" cy="1168389"/>
          </a:xfrm>
        </p:grpSpPr>
        <p:grpSp>
          <p:nvGrpSpPr>
            <p:cNvPr id="291" name="Google Shape;291;p47"/>
            <p:cNvGrpSpPr/>
            <p:nvPr/>
          </p:nvGrpSpPr>
          <p:grpSpPr>
            <a:xfrm>
              <a:off x="494275" y="2503325"/>
              <a:ext cx="3734400" cy="1168389"/>
              <a:chOff x="726825" y="1477375"/>
              <a:chExt cx="3734400" cy="1168389"/>
            </a:xfrm>
          </p:grpSpPr>
          <p:sp>
            <p:nvSpPr>
              <p:cNvPr id="292" name="Google Shape;292;p47"/>
              <p:cNvSpPr/>
              <p:nvPr/>
            </p:nvSpPr>
            <p:spPr>
              <a:xfrm>
                <a:off x="849934" y="2385964"/>
                <a:ext cx="219000" cy="259800"/>
              </a:xfrm>
              <a:prstGeom prst="ellipse">
                <a:avLst/>
              </a:pr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3" name="Google Shape;293;p47"/>
              <p:cNvCxnSpPr>
                <a:stCxn id="292" idx="0"/>
              </p:cNvCxnSpPr>
              <p:nvPr/>
            </p:nvCxnSpPr>
            <p:spPr>
              <a:xfrm rot="10800000" flipH="1">
                <a:off x="959434" y="1852564"/>
                <a:ext cx="218700" cy="533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94" name="Google Shape;294;p47"/>
              <p:cNvSpPr txBox="1"/>
              <p:nvPr/>
            </p:nvSpPr>
            <p:spPr>
              <a:xfrm>
                <a:off x="726825" y="1477375"/>
                <a:ext cx="373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38761D"/>
                    </a:solidFill>
                  </a:rPr>
                  <a:t>Optimal Policy</a:t>
                </a:r>
                <a:r>
                  <a:rPr lang="en" sz="1800">
                    <a:solidFill>
                      <a:schemeClr val="dk2"/>
                    </a:solidFill>
                  </a:rPr>
                  <a:t> → </a:t>
                </a:r>
                <a:r>
                  <a:rPr lang="en" sz="1800" b="1" i="1">
                    <a:solidFill>
                      <a:srgbClr val="9900FF"/>
                    </a:solidFill>
                  </a:rPr>
                  <a:t>target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295" name="Google Shape;295;p47"/>
            <p:cNvGrpSpPr/>
            <p:nvPr/>
          </p:nvGrpSpPr>
          <p:grpSpPr>
            <a:xfrm>
              <a:off x="933909" y="2934914"/>
              <a:ext cx="3857100" cy="736800"/>
              <a:chOff x="-2788166" y="1908964"/>
              <a:chExt cx="3857100" cy="736800"/>
            </a:xfrm>
          </p:grpSpPr>
          <p:sp>
            <p:nvSpPr>
              <p:cNvPr id="296" name="Google Shape;296;p47"/>
              <p:cNvSpPr/>
              <p:nvPr/>
            </p:nvSpPr>
            <p:spPr>
              <a:xfrm>
                <a:off x="849934" y="2385964"/>
                <a:ext cx="219000" cy="259800"/>
              </a:xfrm>
              <a:prstGeom prst="ellipse">
                <a:avLst/>
              </a:pr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7" name="Google Shape;297;p47"/>
              <p:cNvCxnSpPr>
                <a:stCxn id="296" idx="0"/>
              </p:cNvCxnSpPr>
              <p:nvPr/>
            </p:nvCxnSpPr>
            <p:spPr>
              <a:xfrm rot="10800000">
                <a:off x="-2788166" y="1908964"/>
                <a:ext cx="3747600" cy="477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98" name="Google Shape;298;p47"/>
          <p:cNvSpPr txBox="1"/>
          <p:nvPr/>
        </p:nvSpPr>
        <p:spPr>
          <a:xfrm>
            <a:off x="4381175" y="2571750"/>
            <a:ext cx="378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FF0000"/>
                </a:solidFill>
              </a:rPr>
              <a:t>Model has to learn (Value learning)</a:t>
            </a:r>
            <a:endParaRPr sz="1800" i="1">
              <a:solidFill>
                <a:srgbClr val="FF0000"/>
              </a:solidFill>
            </a:endParaRPr>
          </a:p>
        </p:txBody>
      </p:sp>
      <p:pic>
        <p:nvPicPr>
          <p:cNvPr id="299" name="Google Shape;299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4259724"/>
            <a:ext cx="6380975" cy="808176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00" name="Google Shape;300;p47"/>
          <p:cNvGrpSpPr/>
          <p:nvPr/>
        </p:nvGrpSpPr>
        <p:grpSpPr>
          <a:xfrm>
            <a:off x="6692675" y="4430250"/>
            <a:ext cx="1858800" cy="461700"/>
            <a:chOff x="6692675" y="4430250"/>
            <a:chExt cx="1858800" cy="461700"/>
          </a:xfrm>
        </p:grpSpPr>
        <p:cxnSp>
          <p:nvCxnSpPr>
            <p:cNvPr id="301" name="Google Shape;301;p47"/>
            <p:cNvCxnSpPr>
              <a:stCxn id="299" idx="3"/>
            </p:cNvCxnSpPr>
            <p:nvPr/>
          </p:nvCxnSpPr>
          <p:spPr>
            <a:xfrm rot="10800000" flipH="1">
              <a:off x="6692675" y="4658412"/>
              <a:ext cx="396900" cy="5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02" name="Google Shape;302;p47"/>
            <p:cNvSpPr txBox="1"/>
            <p:nvPr/>
          </p:nvSpPr>
          <p:spPr>
            <a:xfrm>
              <a:off x="7089575" y="4430250"/>
              <a:ext cx="146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Bit tedious!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8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highlight>
                  <a:srgbClr val="FFFF00"/>
                </a:highlight>
              </a:rPr>
              <a:t>Easier way</a:t>
            </a:r>
            <a:r>
              <a:rPr lang="en" sz="2120"/>
              <a:t>: How good is an Action from a specific State (</a:t>
            </a:r>
            <a:r>
              <a:rPr lang="en" sz="2120">
                <a:solidFill>
                  <a:srgbClr val="FF0000"/>
                </a:solidFill>
              </a:rPr>
              <a:t>Q-State</a:t>
            </a:r>
            <a:r>
              <a:rPr lang="en" sz="2120"/>
              <a:t>)?</a:t>
            </a:r>
            <a:endParaRPr sz="2120">
              <a:solidFill>
                <a:srgbClr val="FF0000"/>
              </a:solidFill>
            </a:endParaRPr>
          </a:p>
        </p:txBody>
      </p:sp>
      <p:pic>
        <p:nvPicPr>
          <p:cNvPr id="308" name="Google Shape;30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95382"/>
            <a:ext cx="8839201" cy="867849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9" name="Google Shape;30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25" y="3981673"/>
            <a:ext cx="6805374" cy="7376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10" name="Google Shape;310;p48"/>
          <p:cNvGrpSpPr/>
          <p:nvPr/>
        </p:nvGrpSpPr>
        <p:grpSpPr>
          <a:xfrm>
            <a:off x="3861350" y="3147882"/>
            <a:ext cx="2216100" cy="1860500"/>
            <a:chOff x="3861350" y="2975925"/>
            <a:chExt cx="2216100" cy="1860500"/>
          </a:xfrm>
        </p:grpSpPr>
        <p:sp>
          <p:nvSpPr>
            <p:cNvPr id="311" name="Google Shape;311;p48"/>
            <p:cNvSpPr/>
            <p:nvPr/>
          </p:nvSpPr>
          <p:spPr>
            <a:xfrm>
              <a:off x="3875025" y="3564125"/>
              <a:ext cx="1710000" cy="1272300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2" name="Google Shape;312;p48"/>
            <p:cNvCxnSpPr>
              <a:stCxn id="311" idx="0"/>
            </p:cNvCxnSpPr>
            <p:nvPr/>
          </p:nvCxnSpPr>
          <p:spPr>
            <a:xfrm rot="10800000" flipH="1">
              <a:off x="4730025" y="2989625"/>
              <a:ext cx="212100" cy="5745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3" name="Google Shape;313;p48"/>
            <p:cNvCxnSpPr/>
            <p:nvPr/>
          </p:nvCxnSpPr>
          <p:spPr>
            <a:xfrm>
              <a:off x="3861350" y="2975925"/>
              <a:ext cx="2216100" cy="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14" name="Google Shape;314;p48"/>
          <p:cNvPicPr preferRelativeResize="0"/>
          <p:nvPr/>
        </p:nvPicPr>
        <p:blipFill rotWithShape="1">
          <a:blip r:embed="rId5">
            <a:alphaModFix/>
          </a:blip>
          <a:srcRect l="2048" t="37462" r="3129" b="12133"/>
          <a:stretch/>
        </p:blipFill>
        <p:spPr>
          <a:xfrm>
            <a:off x="1659050" y="1077350"/>
            <a:ext cx="4743305" cy="10567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15" name="Google Shape;315;p48"/>
          <p:cNvGrpSpPr/>
          <p:nvPr/>
        </p:nvGrpSpPr>
        <p:grpSpPr>
          <a:xfrm>
            <a:off x="5932425" y="3112720"/>
            <a:ext cx="2735825" cy="1860500"/>
            <a:chOff x="3875025" y="2975925"/>
            <a:chExt cx="2735825" cy="1860500"/>
          </a:xfrm>
        </p:grpSpPr>
        <p:sp>
          <p:nvSpPr>
            <p:cNvPr id="316" name="Google Shape;316;p48"/>
            <p:cNvSpPr/>
            <p:nvPr/>
          </p:nvSpPr>
          <p:spPr>
            <a:xfrm>
              <a:off x="3875025" y="3564125"/>
              <a:ext cx="1710000" cy="1272300"/>
            </a:xfrm>
            <a:prstGeom prst="rect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7" name="Google Shape;317;p48"/>
            <p:cNvCxnSpPr>
              <a:stCxn id="316" idx="0"/>
            </p:cNvCxnSpPr>
            <p:nvPr/>
          </p:nvCxnSpPr>
          <p:spPr>
            <a:xfrm rot="10800000" flipH="1">
              <a:off x="4730025" y="2989625"/>
              <a:ext cx="212100" cy="574500"/>
            </a:xfrm>
            <a:prstGeom prst="straightConnector1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8" name="Google Shape;318;p48"/>
            <p:cNvCxnSpPr/>
            <p:nvPr/>
          </p:nvCxnSpPr>
          <p:spPr>
            <a:xfrm>
              <a:off x="4394750" y="2975925"/>
              <a:ext cx="2216100" cy="0"/>
            </a:xfrm>
            <a:prstGeom prst="straightConnector1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9" name="Google Shape;319;p48"/>
          <p:cNvSpPr/>
          <p:nvPr/>
        </p:nvSpPr>
        <p:spPr>
          <a:xfrm>
            <a:off x="3656175" y="1077350"/>
            <a:ext cx="1764600" cy="492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" name="Google Shape;320;p48"/>
          <p:cNvGrpSpPr/>
          <p:nvPr/>
        </p:nvGrpSpPr>
        <p:grpSpPr>
          <a:xfrm>
            <a:off x="390645" y="1077350"/>
            <a:ext cx="3265530" cy="2117502"/>
            <a:chOff x="390645" y="1077350"/>
            <a:chExt cx="3265530" cy="2117502"/>
          </a:xfrm>
        </p:grpSpPr>
        <p:sp>
          <p:nvSpPr>
            <p:cNvPr id="321" name="Google Shape;321;p48"/>
            <p:cNvSpPr/>
            <p:nvPr/>
          </p:nvSpPr>
          <p:spPr>
            <a:xfrm>
              <a:off x="2686875" y="1077350"/>
              <a:ext cx="969300" cy="492300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8"/>
            <p:cNvSpPr/>
            <p:nvPr/>
          </p:nvSpPr>
          <p:spPr>
            <a:xfrm>
              <a:off x="390645" y="2514752"/>
              <a:ext cx="1254600" cy="680100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>
                <a:highlight>
                  <a:srgbClr val="FFFF00"/>
                </a:highlight>
              </a:rPr>
              <a:t>Easier way</a:t>
            </a:r>
            <a:r>
              <a:rPr lang="en" sz="2520"/>
              <a:t>:</a:t>
            </a:r>
            <a:r>
              <a:rPr lang="en" sz="2120"/>
              <a:t> </a:t>
            </a:r>
            <a:r>
              <a:rPr lang="en" sz="2520"/>
              <a:t>What would be the </a:t>
            </a:r>
            <a:r>
              <a:rPr lang="en" sz="2520">
                <a:solidFill>
                  <a:srgbClr val="38761D"/>
                </a:solidFill>
              </a:rPr>
              <a:t>Optimal Policy</a:t>
            </a:r>
            <a:r>
              <a:rPr lang="en" sz="2520"/>
              <a:t>?</a:t>
            </a:r>
            <a:endParaRPr sz="2120"/>
          </a:p>
        </p:txBody>
      </p:sp>
      <p:grpSp>
        <p:nvGrpSpPr>
          <p:cNvPr id="328" name="Google Shape;328;p49"/>
          <p:cNvGrpSpPr/>
          <p:nvPr/>
        </p:nvGrpSpPr>
        <p:grpSpPr>
          <a:xfrm>
            <a:off x="270661" y="2244350"/>
            <a:ext cx="8839200" cy="1807695"/>
            <a:chOff x="270661" y="2244350"/>
            <a:chExt cx="8839200" cy="1807695"/>
          </a:xfrm>
        </p:grpSpPr>
        <p:pic>
          <p:nvPicPr>
            <p:cNvPr id="329" name="Google Shape;329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661" y="3229477"/>
              <a:ext cx="8839200" cy="822567"/>
            </a:xfrm>
            <a:prstGeom prst="rect">
              <a:avLst/>
            </a:prstGeom>
            <a:noFill/>
            <a:ln w="2857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30" name="Google Shape;330;p49"/>
            <p:cNvCxnSpPr/>
            <p:nvPr/>
          </p:nvCxnSpPr>
          <p:spPr>
            <a:xfrm>
              <a:off x="4249887" y="2244350"/>
              <a:ext cx="0" cy="10893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31" name="Google Shape;331;p49"/>
          <p:cNvGrpSpPr/>
          <p:nvPr/>
        </p:nvGrpSpPr>
        <p:grpSpPr>
          <a:xfrm>
            <a:off x="494275" y="2503325"/>
            <a:ext cx="4546816" cy="1168389"/>
            <a:chOff x="494275" y="2503325"/>
            <a:chExt cx="4546816" cy="1168389"/>
          </a:xfrm>
        </p:grpSpPr>
        <p:grpSp>
          <p:nvGrpSpPr>
            <p:cNvPr id="332" name="Google Shape;332;p49"/>
            <p:cNvGrpSpPr/>
            <p:nvPr/>
          </p:nvGrpSpPr>
          <p:grpSpPr>
            <a:xfrm>
              <a:off x="494275" y="2503325"/>
              <a:ext cx="3734400" cy="1168389"/>
              <a:chOff x="726825" y="1477375"/>
              <a:chExt cx="3734400" cy="1168389"/>
            </a:xfrm>
          </p:grpSpPr>
          <p:sp>
            <p:nvSpPr>
              <p:cNvPr id="333" name="Google Shape;333;p49"/>
              <p:cNvSpPr/>
              <p:nvPr/>
            </p:nvSpPr>
            <p:spPr>
              <a:xfrm>
                <a:off x="849934" y="2385964"/>
                <a:ext cx="219000" cy="259800"/>
              </a:xfrm>
              <a:prstGeom prst="ellipse">
                <a:avLst/>
              </a:pr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4" name="Google Shape;334;p49"/>
              <p:cNvCxnSpPr>
                <a:stCxn id="333" idx="0"/>
              </p:cNvCxnSpPr>
              <p:nvPr/>
            </p:nvCxnSpPr>
            <p:spPr>
              <a:xfrm rot="10800000" flipH="1">
                <a:off x="959434" y="1852564"/>
                <a:ext cx="218700" cy="533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35" name="Google Shape;335;p49"/>
              <p:cNvSpPr txBox="1"/>
              <p:nvPr/>
            </p:nvSpPr>
            <p:spPr>
              <a:xfrm>
                <a:off x="726825" y="1477375"/>
                <a:ext cx="3734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38761D"/>
                    </a:solidFill>
                  </a:rPr>
                  <a:t>Optimal Policy</a:t>
                </a:r>
                <a:r>
                  <a:rPr lang="en" sz="1800">
                    <a:solidFill>
                      <a:schemeClr val="dk2"/>
                    </a:solidFill>
                  </a:rPr>
                  <a:t> → </a:t>
                </a:r>
                <a:r>
                  <a:rPr lang="en" sz="1800" b="1" i="1">
                    <a:solidFill>
                      <a:srgbClr val="9900FF"/>
                    </a:solidFill>
                  </a:rPr>
                  <a:t>target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336" name="Google Shape;336;p49"/>
            <p:cNvGrpSpPr/>
            <p:nvPr/>
          </p:nvGrpSpPr>
          <p:grpSpPr>
            <a:xfrm>
              <a:off x="1183991" y="2934914"/>
              <a:ext cx="3857100" cy="736800"/>
              <a:chOff x="-2538084" y="1908964"/>
              <a:chExt cx="3857100" cy="736800"/>
            </a:xfrm>
          </p:grpSpPr>
          <p:sp>
            <p:nvSpPr>
              <p:cNvPr id="337" name="Google Shape;337;p49"/>
              <p:cNvSpPr/>
              <p:nvPr/>
            </p:nvSpPr>
            <p:spPr>
              <a:xfrm>
                <a:off x="1100016" y="2385964"/>
                <a:ext cx="219000" cy="259800"/>
              </a:xfrm>
              <a:prstGeom prst="ellipse">
                <a:avLst/>
              </a:prstGeom>
              <a:noFill/>
              <a:ln w="19050" cap="flat" cmpd="sng">
                <a:solidFill>
                  <a:srgbClr val="38761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8" name="Google Shape;338;p49"/>
              <p:cNvCxnSpPr>
                <a:stCxn id="337" idx="0"/>
              </p:cNvCxnSpPr>
              <p:nvPr/>
            </p:nvCxnSpPr>
            <p:spPr>
              <a:xfrm rot="10800000">
                <a:off x="-2538084" y="1908964"/>
                <a:ext cx="3747600" cy="477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38761D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339" name="Google Shape;339;p49"/>
          <p:cNvSpPr txBox="1"/>
          <p:nvPr/>
        </p:nvSpPr>
        <p:spPr>
          <a:xfrm>
            <a:off x="4381175" y="2571750"/>
            <a:ext cx="367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rgbClr val="FF0000"/>
                </a:solidFill>
              </a:rPr>
              <a:t>Model has to learn (Q-Learning)</a:t>
            </a:r>
            <a:endParaRPr sz="1800" i="1">
              <a:solidFill>
                <a:srgbClr val="FF0000"/>
              </a:solidFill>
            </a:endParaRPr>
          </a:p>
        </p:txBody>
      </p:sp>
      <p:grpSp>
        <p:nvGrpSpPr>
          <p:cNvPr id="340" name="Google Shape;340;p49"/>
          <p:cNvGrpSpPr/>
          <p:nvPr/>
        </p:nvGrpSpPr>
        <p:grpSpPr>
          <a:xfrm>
            <a:off x="4101875" y="4430250"/>
            <a:ext cx="1858800" cy="461700"/>
            <a:chOff x="6692675" y="4430250"/>
            <a:chExt cx="1858800" cy="461700"/>
          </a:xfrm>
        </p:grpSpPr>
        <p:cxnSp>
          <p:nvCxnSpPr>
            <p:cNvPr id="341" name="Google Shape;341;p49"/>
            <p:cNvCxnSpPr/>
            <p:nvPr/>
          </p:nvCxnSpPr>
          <p:spPr>
            <a:xfrm rot="10800000" flipH="1">
              <a:off x="6692675" y="4658412"/>
              <a:ext cx="396900" cy="5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2" name="Google Shape;342;p49"/>
            <p:cNvSpPr txBox="1"/>
            <p:nvPr/>
          </p:nvSpPr>
          <p:spPr>
            <a:xfrm>
              <a:off x="7089575" y="4430250"/>
              <a:ext cx="1461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38761D"/>
                  </a:solidFill>
                </a:rPr>
                <a:t>Easy!!</a:t>
              </a:r>
              <a:endParaRPr sz="1800">
                <a:solidFill>
                  <a:srgbClr val="38761D"/>
                </a:solidFill>
              </a:endParaRPr>
            </a:p>
          </p:txBody>
        </p:sp>
      </p:grpSp>
      <p:pic>
        <p:nvPicPr>
          <p:cNvPr id="343" name="Google Shape;34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06094"/>
            <a:ext cx="8839201" cy="867849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44" name="Google Shape;344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650" y="4295189"/>
            <a:ext cx="3763675" cy="731826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Reinforcement Learning</a:t>
            </a:r>
            <a:r>
              <a:rPr lang="en" sz="2520">
                <a:solidFill>
                  <a:srgbClr val="FF0000"/>
                </a:solidFill>
              </a:rPr>
              <a:t> Algorithms (Policy Optimization)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350" name="Google Shape;350;p50"/>
          <p:cNvPicPr preferRelativeResize="0"/>
          <p:nvPr/>
        </p:nvPicPr>
        <p:blipFill rotWithShape="1">
          <a:blip r:embed="rId3">
            <a:alphaModFix/>
          </a:blip>
          <a:srcRect b="41691"/>
          <a:stretch/>
        </p:blipFill>
        <p:spPr>
          <a:xfrm>
            <a:off x="795350" y="1211150"/>
            <a:ext cx="7315650" cy="2228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0"/>
          <p:cNvSpPr/>
          <p:nvPr/>
        </p:nvSpPr>
        <p:spPr>
          <a:xfrm>
            <a:off x="1426400" y="2866475"/>
            <a:ext cx="1272300" cy="572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" name="Google Shape;35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414" y="3810450"/>
            <a:ext cx="5947875" cy="10258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3" name="Google Shape;35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3125" y="3899300"/>
            <a:ext cx="2285350" cy="8481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4" name="Google Shape;354;p50"/>
          <p:cNvPicPr preferRelativeResize="0"/>
          <p:nvPr/>
        </p:nvPicPr>
        <p:blipFill rotWithShape="1">
          <a:blip r:embed="rId6">
            <a:alphaModFix/>
          </a:blip>
          <a:srcRect l="23177" t="26898" b="16865"/>
          <a:stretch/>
        </p:blipFill>
        <p:spPr>
          <a:xfrm>
            <a:off x="6123300" y="1211150"/>
            <a:ext cx="2805201" cy="112847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Reinforcement Learning</a:t>
            </a:r>
            <a:r>
              <a:rPr lang="en" sz="2520">
                <a:solidFill>
                  <a:srgbClr val="FF0000"/>
                </a:solidFill>
              </a:rPr>
              <a:t> Algorithms (Policy Optimization)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360" name="Google Shape;3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214" y="1334450"/>
            <a:ext cx="5947875" cy="10258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61" name="Google Shape;361;p51"/>
          <p:cNvGrpSpPr/>
          <p:nvPr/>
        </p:nvGrpSpPr>
        <p:grpSpPr>
          <a:xfrm>
            <a:off x="3161738" y="2360325"/>
            <a:ext cx="2605016" cy="1231339"/>
            <a:chOff x="3161738" y="2360325"/>
            <a:chExt cx="2605016" cy="1231339"/>
          </a:xfrm>
        </p:grpSpPr>
        <p:pic>
          <p:nvPicPr>
            <p:cNvPr id="362" name="Google Shape;36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61738" y="3151915"/>
              <a:ext cx="2605016" cy="439749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63" name="Google Shape;363;p51"/>
            <p:cNvCxnSpPr>
              <a:stCxn id="360" idx="2"/>
              <a:endCxn id="362" idx="0"/>
            </p:cNvCxnSpPr>
            <p:nvPr/>
          </p:nvCxnSpPr>
          <p:spPr>
            <a:xfrm flipH="1">
              <a:off x="4464152" y="2360325"/>
              <a:ext cx="21000" cy="791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364" name="Google Shape;364;p51" descr="a red cross on a white background that looks like a starfish (Provided by Tenor)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06625" y="2360325"/>
              <a:ext cx="515259" cy="572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5" name="Google Shape;36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3575" y="3894554"/>
            <a:ext cx="6315525" cy="8870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66" name="Google Shape;366;p51"/>
          <p:cNvPicPr preferRelativeResize="0"/>
          <p:nvPr/>
        </p:nvPicPr>
        <p:blipFill rotWithShape="1">
          <a:blip r:embed="rId7">
            <a:alphaModFix/>
          </a:blip>
          <a:srcRect l="23177" t="26898" b="16865"/>
          <a:stretch/>
        </p:blipFill>
        <p:spPr>
          <a:xfrm>
            <a:off x="6659793" y="2614500"/>
            <a:ext cx="2550156" cy="102587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Reinforcement Learning</a:t>
            </a:r>
            <a:r>
              <a:rPr lang="en" sz="2520">
                <a:solidFill>
                  <a:srgbClr val="FF0000"/>
                </a:solidFill>
              </a:rPr>
              <a:t> Algorithms (Policy Optimization)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372" name="Google Shape;372;p52"/>
          <p:cNvPicPr preferRelativeResize="0"/>
          <p:nvPr/>
        </p:nvPicPr>
        <p:blipFill rotWithShape="1">
          <a:blip r:embed="rId3">
            <a:alphaModFix/>
          </a:blip>
          <a:srcRect r="55197"/>
          <a:stretch/>
        </p:blipFill>
        <p:spPr>
          <a:xfrm>
            <a:off x="170619" y="1211325"/>
            <a:ext cx="2664775" cy="10258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73" name="Google Shape;373;p52"/>
          <p:cNvGrpSpPr/>
          <p:nvPr/>
        </p:nvGrpSpPr>
        <p:grpSpPr>
          <a:xfrm>
            <a:off x="2835394" y="1211327"/>
            <a:ext cx="3802326" cy="1025875"/>
            <a:chOff x="2835394" y="1211327"/>
            <a:chExt cx="3802326" cy="1025875"/>
          </a:xfrm>
        </p:grpSpPr>
        <p:pic>
          <p:nvPicPr>
            <p:cNvPr id="374" name="Google Shape;374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27000" y="1211327"/>
              <a:ext cx="3010720" cy="1025875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75" name="Google Shape;375;p52"/>
            <p:cNvCxnSpPr>
              <a:stCxn id="372" idx="3"/>
              <a:endCxn id="374" idx="1"/>
            </p:cNvCxnSpPr>
            <p:nvPr/>
          </p:nvCxnSpPr>
          <p:spPr>
            <a:xfrm>
              <a:off x="2835394" y="1724263"/>
              <a:ext cx="7917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376" name="Google Shape;376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0061" y="2809084"/>
            <a:ext cx="2664775" cy="775367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7" name="Google Shape;377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498" y="2868946"/>
            <a:ext cx="1783689" cy="671775"/>
          </a:xfrm>
          <a:prstGeom prst="rect">
            <a:avLst/>
          </a:prstGeom>
          <a:noFill/>
          <a:ln w="3810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378" name="Google Shape;378;p52"/>
          <p:cNvGrpSpPr/>
          <p:nvPr/>
        </p:nvGrpSpPr>
        <p:grpSpPr>
          <a:xfrm>
            <a:off x="104582" y="3562196"/>
            <a:ext cx="4795025" cy="1205704"/>
            <a:chOff x="379575" y="3540721"/>
            <a:chExt cx="4795025" cy="1205704"/>
          </a:xfrm>
        </p:grpSpPr>
        <p:pic>
          <p:nvPicPr>
            <p:cNvPr id="379" name="Google Shape;379;p5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9575" y="3998025"/>
              <a:ext cx="4795025" cy="74840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80" name="Google Shape;380;p52"/>
            <p:cNvCxnSpPr/>
            <p:nvPr/>
          </p:nvCxnSpPr>
          <p:spPr>
            <a:xfrm flipH="1">
              <a:off x="1331719" y="3540721"/>
              <a:ext cx="8100" cy="4200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381" name="Google Shape;381;p52"/>
          <p:cNvGrpSpPr/>
          <p:nvPr/>
        </p:nvGrpSpPr>
        <p:grpSpPr>
          <a:xfrm>
            <a:off x="4824836" y="2806389"/>
            <a:ext cx="4070862" cy="775375"/>
            <a:chOff x="4977236" y="2792709"/>
            <a:chExt cx="4070862" cy="775375"/>
          </a:xfrm>
        </p:grpSpPr>
        <p:pic>
          <p:nvPicPr>
            <p:cNvPr id="382" name="Google Shape;382;p5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442609" y="2792709"/>
              <a:ext cx="3605489" cy="775375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cxnSp>
          <p:nvCxnSpPr>
            <p:cNvPr id="383" name="Google Shape;383;p52"/>
            <p:cNvCxnSpPr>
              <a:stCxn id="376" idx="3"/>
              <a:endCxn id="382" idx="1"/>
            </p:cNvCxnSpPr>
            <p:nvPr/>
          </p:nvCxnSpPr>
          <p:spPr>
            <a:xfrm rot="10800000" flipH="1">
              <a:off x="4977236" y="3180388"/>
              <a:ext cx="465300" cy="270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cxnSp>
      </p:grpSp>
      <p:grpSp>
        <p:nvGrpSpPr>
          <p:cNvPr id="384" name="Google Shape;384;p52"/>
          <p:cNvGrpSpPr/>
          <p:nvPr/>
        </p:nvGrpSpPr>
        <p:grpSpPr>
          <a:xfrm>
            <a:off x="5272284" y="3581764"/>
            <a:ext cx="3688183" cy="1073387"/>
            <a:chOff x="5272284" y="3581764"/>
            <a:chExt cx="3688183" cy="1073387"/>
          </a:xfrm>
        </p:grpSpPr>
        <p:pic>
          <p:nvPicPr>
            <p:cNvPr id="385" name="Google Shape;385;p5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272284" y="4082451"/>
              <a:ext cx="3688183" cy="572700"/>
            </a:xfrm>
            <a:prstGeom prst="rect">
              <a:avLst/>
            </a:prstGeom>
            <a:noFill/>
            <a:ln w="38100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386" name="Google Shape;386;p52"/>
            <p:cNvCxnSpPr>
              <a:stCxn id="382" idx="2"/>
              <a:endCxn id="385" idx="0"/>
            </p:cNvCxnSpPr>
            <p:nvPr/>
          </p:nvCxnSpPr>
          <p:spPr>
            <a:xfrm>
              <a:off x="7092954" y="3581764"/>
              <a:ext cx="23400" cy="500700"/>
            </a:xfrm>
            <a:prstGeom prst="straightConnector1">
              <a:avLst/>
            </a:prstGeom>
            <a:noFill/>
            <a:ln w="38100" cap="flat" cmpd="sng">
              <a:solidFill>
                <a:srgbClr val="38761D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cxnSp>
      </p:grpSp>
      <p:sp>
        <p:nvSpPr>
          <p:cNvPr id="387" name="Google Shape;387;p52"/>
          <p:cNvSpPr/>
          <p:nvPr/>
        </p:nvSpPr>
        <p:spPr>
          <a:xfrm>
            <a:off x="6843500" y="4234425"/>
            <a:ext cx="246300" cy="2736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8" name="Google Shape;388;p52"/>
          <p:cNvPicPr preferRelativeResize="0"/>
          <p:nvPr/>
        </p:nvPicPr>
        <p:blipFill rotWithShape="1">
          <a:blip r:embed="rId10">
            <a:alphaModFix/>
          </a:blip>
          <a:srcRect l="23177" t="26898" b="16865"/>
          <a:stretch/>
        </p:blipFill>
        <p:spPr>
          <a:xfrm>
            <a:off x="6904850" y="1378375"/>
            <a:ext cx="1927452" cy="77537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Reinforcement Learning</a:t>
            </a:r>
            <a:r>
              <a:rPr lang="en" sz="2520">
                <a:solidFill>
                  <a:srgbClr val="FF0000"/>
                </a:solidFill>
              </a:rPr>
              <a:t> Algorithms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394" name="Google Shape;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50" y="1211150"/>
            <a:ext cx="7315640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3"/>
          <p:cNvSpPr/>
          <p:nvPr/>
        </p:nvSpPr>
        <p:spPr>
          <a:xfrm>
            <a:off x="701375" y="4220750"/>
            <a:ext cx="1272300" cy="3966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6" name="Google Shape;396;p53"/>
          <p:cNvPicPr preferRelativeResize="0"/>
          <p:nvPr/>
        </p:nvPicPr>
        <p:blipFill rotWithShape="1">
          <a:blip r:embed="rId4">
            <a:alphaModFix/>
          </a:blip>
          <a:srcRect l="23177" t="26898" b="16865"/>
          <a:stretch/>
        </p:blipFill>
        <p:spPr>
          <a:xfrm>
            <a:off x="6027100" y="1017725"/>
            <a:ext cx="2805201" cy="112847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5724D2-2024-F574-5A8A-110C9B3883F3}"/>
              </a:ext>
            </a:extLst>
          </p:cNvPr>
          <p:cNvSpPr txBox="1"/>
          <p:nvPr/>
        </p:nvSpPr>
        <p:spPr>
          <a:xfrm>
            <a:off x="1611065" y="4894190"/>
            <a:ext cx="6379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Source: </a:t>
            </a:r>
            <a:r>
              <a:rPr lang="en-IN" sz="1050" dirty="0">
                <a:hlinkClick r:id="rId5"/>
              </a:rPr>
              <a:t>https://spinningup.openai.com/en/latest/spinningup/rl_intro2.html</a:t>
            </a:r>
            <a:endParaRPr lang="en-IN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 in NLP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Framing Summarization as Policy-Update Problem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407" name="Google Shape;40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925" y="1033350"/>
            <a:ext cx="7134916" cy="39304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08" name="Google Shape;408;p55"/>
          <p:cNvSpPr/>
          <p:nvPr/>
        </p:nvSpPr>
        <p:spPr>
          <a:xfrm>
            <a:off x="386750" y="1402775"/>
            <a:ext cx="7893000" cy="807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6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Framing Summarization as Policy-Update Problem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414" name="Google Shape;41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50" y="1060700"/>
            <a:ext cx="7543800" cy="36576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15" name="Google Shape;415;p56"/>
          <p:cNvSpPr/>
          <p:nvPr/>
        </p:nvSpPr>
        <p:spPr>
          <a:xfrm>
            <a:off x="386750" y="937675"/>
            <a:ext cx="7893000" cy="1634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7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However, something is different …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421" name="Google Shape;42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2275"/>
            <a:ext cx="5885575" cy="384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7"/>
          <p:cNvSpPr/>
          <p:nvPr/>
        </p:nvSpPr>
        <p:spPr>
          <a:xfrm>
            <a:off x="311700" y="4085200"/>
            <a:ext cx="5957400" cy="844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3" name="Google Shape;423;p57"/>
          <p:cNvPicPr preferRelativeResize="0"/>
          <p:nvPr/>
        </p:nvPicPr>
        <p:blipFill rotWithShape="1">
          <a:blip r:embed="rId4">
            <a:alphaModFix/>
          </a:blip>
          <a:srcRect l="-2323"/>
          <a:stretch/>
        </p:blipFill>
        <p:spPr>
          <a:xfrm>
            <a:off x="5284200" y="2129888"/>
            <a:ext cx="2921000" cy="1568825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Then why not just call it Supervised Fine-tuning?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429" name="Google Shape;42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90275"/>
            <a:ext cx="8618176" cy="25705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30" name="Google Shape;430;p58"/>
          <p:cNvCxnSpPr/>
          <p:nvPr/>
        </p:nvCxnSpPr>
        <p:spPr>
          <a:xfrm>
            <a:off x="2274525" y="1991000"/>
            <a:ext cx="20109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1" name="Google Shape;431;p58"/>
          <p:cNvGrpSpPr/>
          <p:nvPr/>
        </p:nvGrpSpPr>
        <p:grpSpPr>
          <a:xfrm>
            <a:off x="390600" y="2825575"/>
            <a:ext cx="3443400" cy="236275"/>
            <a:chOff x="390600" y="2825575"/>
            <a:chExt cx="3443400" cy="236275"/>
          </a:xfrm>
        </p:grpSpPr>
        <p:cxnSp>
          <p:nvCxnSpPr>
            <p:cNvPr id="432" name="Google Shape;432;p58"/>
            <p:cNvCxnSpPr/>
            <p:nvPr/>
          </p:nvCxnSpPr>
          <p:spPr>
            <a:xfrm rot="10800000" flipH="1">
              <a:off x="2112300" y="2825575"/>
              <a:ext cx="1721700" cy="1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58"/>
            <p:cNvCxnSpPr/>
            <p:nvPr/>
          </p:nvCxnSpPr>
          <p:spPr>
            <a:xfrm rot="10800000" flipH="1">
              <a:off x="390600" y="3044450"/>
              <a:ext cx="3375000" cy="17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9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Then why not just call it Supervised Fine-tuning?</a:t>
            </a:r>
            <a:endParaRPr sz="2520">
              <a:solidFill>
                <a:srgbClr val="FF0000"/>
              </a:solidFill>
            </a:endParaRPr>
          </a:p>
        </p:txBody>
      </p:sp>
      <p:graphicFrame>
        <p:nvGraphicFramePr>
          <p:cNvPr id="439" name="Google Shape;439;p59"/>
          <p:cNvGraphicFramePr/>
          <p:nvPr/>
        </p:nvGraphicFramePr>
        <p:xfrm>
          <a:off x="411575" y="214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{B8909C88-4E8D-43B8-8190-B56D3184EC09}</a:tableStyleId>
              </a:tblPr>
              <a:tblGrid>
                <a:gridCol w="463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Candidate summary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Matches n-grams?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ROUGE-1 / ROUGE-2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“NASA’s Perseverance rover </a:t>
                      </a:r>
                      <a:r>
                        <a:rPr lang="en" sz="1300" b="1"/>
                        <a:t>found hints of ancient life on Mars</a:t>
                      </a:r>
                      <a:r>
                        <a:rPr lang="en" sz="1300"/>
                        <a:t>, the agency revealed.”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keeps “Perseverance rover … ancient life on Mars”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0.81 / 0.63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“Perseverance discovers fossils.”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almost no n-gram overlap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0.14 / 0.05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0" name="Google Shape;440;p59"/>
          <p:cNvSpPr txBox="1"/>
          <p:nvPr/>
        </p:nvSpPr>
        <p:spPr>
          <a:xfrm>
            <a:off x="146700" y="1298350"/>
            <a:ext cx="8850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chemeClr val="dk1"/>
                </a:solidFill>
              </a:rPr>
              <a:t>“</a:t>
            </a:r>
            <a:r>
              <a:rPr lang="en" sz="1300" b="1" i="1">
                <a:solidFill>
                  <a:schemeClr val="dk1"/>
                </a:solidFill>
              </a:rPr>
              <a:t>NASA announced today that its Perseverance rover discovered possible signs of ancient microbial life on Mars.</a:t>
            </a:r>
            <a:r>
              <a:rPr lang="en" sz="1300" i="1">
                <a:solidFill>
                  <a:schemeClr val="dk1"/>
                </a:solidFill>
              </a:rPr>
              <a:t>”</a:t>
            </a:r>
            <a:endParaRPr sz="1300" i="1"/>
          </a:p>
        </p:txBody>
      </p:sp>
      <p:grpSp>
        <p:nvGrpSpPr>
          <p:cNvPr id="441" name="Google Shape;441;p59"/>
          <p:cNvGrpSpPr/>
          <p:nvPr/>
        </p:nvGrpSpPr>
        <p:grpSpPr>
          <a:xfrm>
            <a:off x="1535825" y="3194800"/>
            <a:ext cx="7095900" cy="1679100"/>
            <a:chOff x="1535825" y="3194800"/>
            <a:chExt cx="7095900" cy="1679100"/>
          </a:xfrm>
        </p:grpSpPr>
        <p:cxnSp>
          <p:nvCxnSpPr>
            <p:cNvPr id="442" name="Google Shape;442;p59"/>
            <p:cNvCxnSpPr/>
            <p:nvPr/>
          </p:nvCxnSpPr>
          <p:spPr>
            <a:xfrm>
              <a:off x="2999550" y="3194800"/>
              <a:ext cx="383100" cy="1217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3" name="Google Shape;443;p59"/>
            <p:cNvSpPr txBox="1"/>
            <p:nvPr/>
          </p:nvSpPr>
          <p:spPr>
            <a:xfrm>
              <a:off x="1535825" y="4412200"/>
              <a:ext cx="7095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chemeClr val="dk2"/>
                  </a:solidFill>
                </a:rPr>
                <a:t>The sequence and phrase is different yet the final Return is high</a:t>
              </a:r>
              <a:endParaRPr sz="1800" i="1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0"/>
          <p:cNvSpPr txBox="1">
            <a:spLocks noGrp="1"/>
          </p:cNvSpPr>
          <p:nvPr>
            <p:ph type="title"/>
          </p:nvPr>
        </p:nvSpPr>
        <p:spPr>
          <a:xfrm>
            <a:off x="311700" y="335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Key Takeaways: RL vs Supervised Fine-tuning</a:t>
            </a:r>
            <a:endParaRPr sz="2520">
              <a:solidFill>
                <a:srgbClr val="FF0000"/>
              </a:solidFill>
            </a:endParaRPr>
          </a:p>
        </p:txBody>
      </p:sp>
      <p:graphicFrame>
        <p:nvGraphicFramePr>
          <p:cNvPr id="449" name="Google Shape;449;p60"/>
          <p:cNvGraphicFramePr/>
          <p:nvPr/>
        </p:nvGraphicFramePr>
        <p:xfrm>
          <a:off x="311700" y="119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{B8909C88-4E8D-43B8-8190-B56D3184EC09}</a:tableStyleId>
              </a:tblPr>
              <a:tblGrid>
                <a:gridCol w="129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Training style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Interaction loop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Policy update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Supervised fine-tuning</a:t>
                      </a:r>
                      <a:r>
                        <a:rPr lang="en" sz="1300"/>
                        <a:t> (MLE)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Environment → document → Agent 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Agent outputs full summary (greedy).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Loss = negative log-likelihood vs. gold summary.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Back-prop on cross-entropy; 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no explicit reward needed.</a:t>
                      </a:r>
                      <a:endParaRPr sz="1300">
                        <a:highlight>
                          <a:srgbClr val="FFFF00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/>
                        <a:t>RL fine-tuning</a:t>
                      </a:r>
                      <a:r>
                        <a:rPr lang="en" sz="1300"/>
                        <a:t> (e.g., PPO with 🤗 TRL)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Environment → document.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Agent samples summary tokens </a:t>
                      </a:r>
                      <a:r>
                        <a:rPr lang="en" sz="1300" i="1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step-by-step</a:t>
                      </a:r>
                      <a:r>
                        <a:rPr lang="en" sz="130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.</a:t>
                      </a:r>
                      <a:endParaRPr sz="130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After &lt;EOS&gt; a </a:t>
                      </a:r>
                      <a:r>
                        <a:rPr lang="en" sz="1300" i="1">
                          <a:highlight>
                            <a:srgbClr val="FFFF00"/>
                          </a:highlight>
                        </a:rPr>
                        <a:t>reward function</a:t>
                      </a:r>
                      <a:r>
                        <a:rPr lang="en" sz="1300"/>
                        <a:t> (ROUGE / human) returns r.</a:t>
                      </a:r>
                      <a:endParaRPr sz="1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PPO/DPO/ILQL move the policy toward summaries with higher rewards; 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Value head estimates expected Return </a:t>
                      </a:r>
                      <a:r>
                        <a:rPr lang="en" sz="1300" i="1" u="sng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from partial prefixes</a:t>
                      </a:r>
                      <a:r>
                        <a:rPr lang="en" sz="1300">
                          <a:highlight>
                            <a:srgbClr val="FFFF00"/>
                          </a:highlight>
                        </a:rPr>
                        <a:t>.</a:t>
                      </a:r>
                      <a:endParaRPr sz="1300">
                        <a:highlight>
                          <a:srgbClr val="FFFF00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(Offline) Policy-update based RL in NLP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08550"/>
            <a:ext cx="8839199" cy="183221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0" name="Google Shape;460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Return (= Reward) </a:t>
            </a:r>
            <a:r>
              <a:rPr lang="en" sz="2520" i="1" u="sng">
                <a:solidFill>
                  <a:srgbClr val="FF0000"/>
                </a:solidFill>
              </a:rPr>
              <a:t>after</a:t>
            </a:r>
            <a:r>
              <a:rPr lang="en" sz="2520"/>
              <a:t> Response is completed</a:t>
            </a:r>
            <a:endParaRPr sz="2520">
              <a:solidFill>
                <a:srgbClr val="FF0000"/>
              </a:solidFill>
            </a:endParaRPr>
          </a:p>
        </p:txBody>
      </p:sp>
      <p:cxnSp>
        <p:nvCxnSpPr>
          <p:cNvPr id="461" name="Google Shape;461;p62"/>
          <p:cNvCxnSpPr/>
          <p:nvPr/>
        </p:nvCxnSpPr>
        <p:spPr>
          <a:xfrm>
            <a:off x="5223650" y="3484000"/>
            <a:ext cx="3753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62"/>
          <p:cNvCxnSpPr/>
          <p:nvPr/>
        </p:nvCxnSpPr>
        <p:spPr>
          <a:xfrm rot="10800000" flipH="1">
            <a:off x="3417850" y="3947050"/>
            <a:ext cx="1565100" cy="21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3" name="Google Shape;46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1075"/>
            <a:ext cx="8520600" cy="507544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Example: Return for </a:t>
            </a:r>
            <a:r>
              <a:rPr lang="en" sz="2520">
                <a:solidFill>
                  <a:srgbClr val="FF0000"/>
                </a:solidFill>
              </a:rPr>
              <a:t>Summarization Task</a:t>
            </a:r>
            <a:endParaRPr sz="2520">
              <a:solidFill>
                <a:srgbClr val="FF0000"/>
              </a:solidFill>
            </a:endParaRPr>
          </a:p>
        </p:txBody>
      </p:sp>
      <p:grpSp>
        <p:nvGrpSpPr>
          <p:cNvPr id="469" name="Google Shape;469;p63"/>
          <p:cNvGrpSpPr/>
          <p:nvPr/>
        </p:nvGrpSpPr>
        <p:grpSpPr>
          <a:xfrm>
            <a:off x="568475" y="1867875"/>
            <a:ext cx="8268250" cy="2431002"/>
            <a:chOff x="568475" y="1867875"/>
            <a:chExt cx="8268250" cy="2431002"/>
          </a:xfrm>
        </p:grpSpPr>
        <p:pic>
          <p:nvPicPr>
            <p:cNvPr id="470" name="Google Shape;470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475" y="3317203"/>
              <a:ext cx="8268250" cy="98167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471" name="Google Shape;471;p63"/>
            <p:cNvCxnSpPr/>
            <p:nvPr/>
          </p:nvCxnSpPr>
          <p:spPr>
            <a:xfrm>
              <a:off x="2219825" y="1867875"/>
              <a:ext cx="615600" cy="1504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472" name="Google Shape;47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471075"/>
            <a:ext cx="8520600" cy="507544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Policy Update </a:t>
            </a:r>
            <a:r>
              <a:rPr lang="en" sz="2420" strike="sngStrike"/>
              <a:t>needs</a:t>
            </a:r>
            <a:r>
              <a:rPr lang="en" sz="2420"/>
              <a:t> </a:t>
            </a:r>
            <a:r>
              <a:rPr lang="en" sz="2420" i="1"/>
              <a:t>loves</a:t>
            </a:r>
            <a:r>
              <a:rPr lang="en" sz="2420"/>
              <a:t> </a:t>
            </a:r>
            <a:r>
              <a:rPr lang="en" sz="2420">
                <a:solidFill>
                  <a:srgbClr val="9900FF"/>
                </a:solidFill>
              </a:rPr>
              <a:t>intermediate</a:t>
            </a:r>
            <a:r>
              <a:rPr lang="en" sz="2420"/>
              <a:t> incentive for training</a:t>
            </a:r>
            <a:endParaRPr sz="2420">
              <a:solidFill>
                <a:srgbClr val="FF0000"/>
              </a:solidFill>
            </a:endParaRPr>
          </a:p>
        </p:txBody>
      </p:sp>
      <p:pic>
        <p:nvPicPr>
          <p:cNvPr id="478" name="Google Shape;47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356364"/>
            <a:ext cx="3605489" cy="7753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79" name="Google Shape;479;p64"/>
          <p:cNvGrpSpPr/>
          <p:nvPr/>
        </p:nvGrpSpPr>
        <p:grpSpPr>
          <a:xfrm>
            <a:off x="3917198" y="1356364"/>
            <a:ext cx="4928905" cy="775375"/>
            <a:chOff x="3917198" y="1356364"/>
            <a:chExt cx="4928905" cy="775375"/>
          </a:xfrm>
        </p:grpSpPr>
        <p:cxnSp>
          <p:nvCxnSpPr>
            <p:cNvPr id="480" name="Google Shape;480;p64"/>
            <p:cNvCxnSpPr>
              <a:stCxn id="478" idx="3"/>
            </p:cNvCxnSpPr>
            <p:nvPr/>
          </p:nvCxnSpPr>
          <p:spPr>
            <a:xfrm>
              <a:off x="3917198" y="1744051"/>
              <a:ext cx="8748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481" name="Google Shape;481;p6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92000" y="1356364"/>
              <a:ext cx="4054103" cy="775375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482" name="Google Shape;482;p64"/>
          <p:cNvGrpSpPr/>
          <p:nvPr/>
        </p:nvGrpSpPr>
        <p:grpSpPr>
          <a:xfrm>
            <a:off x="6051225" y="1949950"/>
            <a:ext cx="2513301" cy="2161350"/>
            <a:chOff x="6051225" y="1949950"/>
            <a:chExt cx="2513301" cy="2161350"/>
          </a:xfrm>
        </p:grpSpPr>
        <p:grpSp>
          <p:nvGrpSpPr>
            <p:cNvPr id="483" name="Google Shape;483;p64"/>
            <p:cNvGrpSpPr/>
            <p:nvPr/>
          </p:nvGrpSpPr>
          <p:grpSpPr>
            <a:xfrm>
              <a:off x="6051225" y="2470400"/>
              <a:ext cx="2513301" cy="1640900"/>
              <a:chOff x="6051225" y="2470400"/>
              <a:chExt cx="2513301" cy="1640900"/>
            </a:xfrm>
          </p:grpSpPr>
          <p:pic>
            <p:nvPicPr>
              <p:cNvPr id="484" name="Google Shape;484;p64"/>
              <p:cNvPicPr preferRelativeResize="0"/>
              <p:nvPr/>
            </p:nvPicPr>
            <p:blipFill rotWithShape="1">
              <a:blip r:embed="rId5">
                <a:alphaModFix/>
              </a:blip>
              <a:srcRect r="56169"/>
              <a:stretch/>
            </p:blipFill>
            <p:spPr>
              <a:xfrm>
                <a:off x="6051225" y="2470400"/>
                <a:ext cx="2395300" cy="101165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pic>
            <p:nvPicPr>
              <p:cNvPr id="485" name="Google Shape;485;p64"/>
              <p:cNvPicPr preferRelativeResize="0"/>
              <p:nvPr/>
            </p:nvPicPr>
            <p:blipFill rotWithShape="1">
              <a:blip r:embed="rId5">
                <a:alphaModFix/>
              </a:blip>
              <a:srcRect l="49645" t="31128" b="13285"/>
              <a:stretch/>
            </p:blipFill>
            <p:spPr>
              <a:xfrm>
                <a:off x="6051225" y="3597700"/>
                <a:ext cx="2513301" cy="513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486" name="Google Shape;486;p64"/>
            <p:cNvCxnSpPr>
              <a:endCxn id="484" idx="0"/>
            </p:cNvCxnSpPr>
            <p:nvPr/>
          </p:nvCxnSpPr>
          <p:spPr>
            <a:xfrm flipH="1">
              <a:off x="7248875" y="1963700"/>
              <a:ext cx="401700" cy="506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7" name="Google Shape;487;p64"/>
            <p:cNvCxnSpPr/>
            <p:nvPr/>
          </p:nvCxnSpPr>
          <p:spPr>
            <a:xfrm>
              <a:off x="7199150" y="1949950"/>
              <a:ext cx="1176600" cy="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88" name="Google Shape;488;p64"/>
          <p:cNvGrpSpPr/>
          <p:nvPr/>
        </p:nvGrpSpPr>
        <p:grpSpPr>
          <a:xfrm>
            <a:off x="632975" y="715775"/>
            <a:ext cx="2820575" cy="946800"/>
            <a:chOff x="632975" y="715775"/>
            <a:chExt cx="2820575" cy="946800"/>
          </a:xfrm>
        </p:grpSpPr>
        <p:pic>
          <p:nvPicPr>
            <p:cNvPr id="489" name="Google Shape;489;p64"/>
            <p:cNvPicPr preferRelativeResize="0"/>
            <p:nvPr/>
          </p:nvPicPr>
          <p:blipFill rotWithShape="1">
            <a:blip r:embed="rId6">
              <a:alphaModFix/>
            </a:blip>
            <a:srcRect l="9871" t="17400" r="86394" b="76561"/>
            <a:stretch/>
          </p:blipFill>
          <p:spPr>
            <a:xfrm>
              <a:off x="2974775" y="715775"/>
              <a:ext cx="478775" cy="64199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90" name="Google Shape;490;p64"/>
            <p:cNvCxnSpPr>
              <a:endCxn id="489" idx="1"/>
            </p:cNvCxnSpPr>
            <p:nvPr/>
          </p:nvCxnSpPr>
          <p:spPr>
            <a:xfrm rot="10800000" flipH="1">
              <a:off x="632975" y="1036775"/>
              <a:ext cx="2341800" cy="625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91" name="Google Shape;491;p64"/>
          <p:cNvGrpSpPr/>
          <p:nvPr/>
        </p:nvGrpSpPr>
        <p:grpSpPr>
          <a:xfrm>
            <a:off x="311694" y="2366575"/>
            <a:ext cx="4564750" cy="1334325"/>
            <a:chOff x="311694" y="2366575"/>
            <a:chExt cx="4564750" cy="1334325"/>
          </a:xfrm>
        </p:grpSpPr>
        <p:pic>
          <p:nvPicPr>
            <p:cNvPr id="492" name="Google Shape;492;p6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1694" y="3128200"/>
              <a:ext cx="4564750" cy="57270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93" name="Google Shape;493;p64"/>
            <p:cNvPicPr preferRelativeResize="0"/>
            <p:nvPr/>
          </p:nvPicPr>
          <p:blipFill rotWithShape="1">
            <a:blip r:embed="rId8">
              <a:alphaModFix/>
            </a:blip>
            <a:srcRect l="17245" t="10627" r="18574" b="15315"/>
            <a:stretch/>
          </p:blipFill>
          <p:spPr>
            <a:xfrm>
              <a:off x="311700" y="2366575"/>
              <a:ext cx="567525" cy="6548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94" name="Google Shape;494;p64"/>
          <p:cNvCxnSpPr>
            <a:endCxn id="493" idx="2"/>
          </p:cNvCxnSpPr>
          <p:nvPr/>
        </p:nvCxnSpPr>
        <p:spPr>
          <a:xfrm rot="10800000">
            <a:off x="595462" y="3021425"/>
            <a:ext cx="37500" cy="419700"/>
          </a:xfrm>
          <a:prstGeom prst="straightConnector1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95" name="Google Shape;495;p64"/>
          <p:cNvGrpSpPr/>
          <p:nvPr/>
        </p:nvGrpSpPr>
        <p:grpSpPr>
          <a:xfrm>
            <a:off x="879225" y="2368350"/>
            <a:ext cx="2574314" cy="647700"/>
            <a:chOff x="879225" y="2368350"/>
            <a:chExt cx="2574314" cy="647700"/>
          </a:xfrm>
        </p:grpSpPr>
        <p:cxnSp>
          <p:nvCxnSpPr>
            <p:cNvPr id="496" name="Google Shape;496;p64"/>
            <p:cNvCxnSpPr>
              <a:stCxn id="493" idx="3"/>
              <a:endCxn id="497" idx="1"/>
            </p:cNvCxnSpPr>
            <p:nvPr/>
          </p:nvCxnSpPr>
          <p:spPr>
            <a:xfrm rot="10800000" flipH="1">
              <a:off x="879225" y="2692200"/>
              <a:ext cx="477000" cy="18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497" name="Google Shape;497;p6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356225" y="2368350"/>
              <a:ext cx="2097314" cy="64770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498" name="Google Shape;498;p64"/>
          <p:cNvGrpSpPr/>
          <p:nvPr/>
        </p:nvGrpSpPr>
        <p:grpSpPr>
          <a:xfrm>
            <a:off x="4269925" y="2168825"/>
            <a:ext cx="4564750" cy="2880945"/>
            <a:chOff x="4269925" y="2168825"/>
            <a:chExt cx="4564750" cy="2880945"/>
          </a:xfrm>
        </p:grpSpPr>
        <p:cxnSp>
          <p:nvCxnSpPr>
            <p:cNvPr id="499" name="Google Shape;499;p64"/>
            <p:cNvCxnSpPr/>
            <p:nvPr/>
          </p:nvCxnSpPr>
          <p:spPr>
            <a:xfrm>
              <a:off x="5667050" y="2168825"/>
              <a:ext cx="13800" cy="20244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00" name="Google Shape;500;p64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269925" y="4193225"/>
              <a:ext cx="4564750" cy="85654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501" name="Google Shape;501;p64"/>
          <p:cNvGrpSpPr/>
          <p:nvPr/>
        </p:nvGrpSpPr>
        <p:grpSpPr>
          <a:xfrm>
            <a:off x="6585501" y="4703489"/>
            <a:ext cx="2686800" cy="461700"/>
            <a:chOff x="6585501" y="4703489"/>
            <a:chExt cx="2686800" cy="461700"/>
          </a:xfrm>
        </p:grpSpPr>
        <p:sp>
          <p:nvSpPr>
            <p:cNvPr id="502" name="Google Shape;502;p64"/>
            <p:cNvSpPr txBox="1"/>
            <p:nvPr/>
          </p:nvSpPr>
          <p:spPr>
            <a:xfrm>
              <a:off x="6585501" y="4703489"/>
              <a:ext cx="2686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rgbClr val="FF0000"/>
                  </a:solidFill>
                </a:rPr>
                <a:t>Problem: At the end!</a:t>
              </a:r>
              <a:endParaRPr sz="1800" i="1">
                <a:solidFill>
                  <a:srgbClr val="FF0000"/>
                </a:solidFill>
              </a:endParaRPr>
            </a:p>
          </p:txBody>
        </p:sp>
        <p:cxnSp>
          <p:nvCxnSpPr>
            <p:cNvPr id="503" name="Google Shape;503;p64"/>
            <p:cNvCxnSpPr/>
            <p:nvPr/>
          </p:nvCxnSpPr>
          <p:spPr>
            <a:xfrm>
              <a:off x="8168375" y="4781625"/>
              <a:ext cx="369300" cy="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4" name="Google Shape;504;p64"/>
          <p:cNvGrpSpPr/>
          <p:nvPr/>
        </p:nvGrpSpPr>
        <p:grpSpPr>
          <a:xfrm>
            <a:off x="181188" y="4214859"/>
            <a:ext cx="4088738" cy="838200"/>
            <a:chOff x="181188" y="4214859"/>
            <a:chExt cx="4088738" cy="838200"/>
          </a:xfrm>
        </p:grpSpPr>
        <p:pic>
          <p:nvPicPr>
            <p:cNvPr id="505" name="Google Shape;505;p64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181188" y="4214859"/>
              <a:ext cx="3724275" cy="83820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06" name="Google Shape;506;p64"/>
            <p:cNvCxnSpPr>
              <a:stCxn id="500" idx="1"/>
              <a:endCxn id="505" idx="3"/>
            </p:cNvCxnSpPr>
            <p:nvPr/>
          </p:nvCxnSpPr>
          <p:spPr>
            <a:xfrm flipH="1">
              <a:off x="3905425" y="4621497"/>
              <a:ext cx="364500" cy="126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507" name="Google Shape;507;p64"/>
          <p:cNvCxnSpPr/>
          <p:nvPr/>
        </p:nvCxnSpPr>
        <p:spPr>
          <a:xfrm>
            <a:off x="1981738" y="4810900"/>
            <a:ext cx="292800" cy="14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00" y="879925"/>
            <a:ext cx="4374875" cy="9864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3" name="Google Shape;513;p6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Policy Update in the context of PPO</a:t>
            </a:r>
            <a:endParaRPr sz="2520">
              <a:solidFill>
                <a:srgbClr val="FF0000"/>
              </a:solidFill>
            </a:endParaRPr>
          </a:p>
        </p:txBody>
      </p:sp>
      <p:grpSp>
        <p:nvGrpSpPr>
          <p:cNvPr id="514" name="Google Shape;514;p65"/>
          <p:cNvGrpSpPr/>
          <p:nvPr/>
        </p:nvGrpSpPr>
        <p:grpSpPr>
          <a:xfrm>
            <a:off x="4449575" y="1052124"/>
            <a:ext cx="2926528" cy="642000"/>
            <a:chOff x="4449575" y="1052124"/>
            <a:chExt cx="2926528" cy="642000"/>
          </a:xfrm>
        </p:grpSpPr>
        <p:cxnSp>
          <p:nvCxnSpPr>
            <p:cNvPr id="515" name="Google Shape;515;p65"/>
            <p:cNvCxnSpPr/>
            <p:nvPr/>
          </p:nvCxnSpPr>
          <p:spPr>
            <a:xfrm>
              <a:off x="4449575" y="1371475"/>
              <a:ext cx="562800" cy="33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16" name="Google Shape;516;p6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12375" y="1052124"/>
              <a:ext cx="2363727" cy="642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517" name="Google Shape;517;p65"/>
          <p:cNvPicPr preferRelativeResize="0"/>
          <p:nvPr/>
        </p:nvPicPr>
        <p:blipFill rotWithShape="1">
          <a:blip r:embed="rId5">
            <a:alphaModFix/>
          </a:blip>
          <a:srcRect l="9871" t="17400" r="86394" b="76561"/>
          <a:stretch/>
        </p:blipFill>
        <p:spPr>
          <a:xfrm>
            <a:off x="311693" y="1694118"/>
            <a:ext cx="411992" cy="552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8" name="Google Shape;518;p65"/>
          <p:cNvGrpSpPr/>
          <p:nvPr/>
        </p:nvGrpSpPr>
        <p:grpSpPr>
          <a:xfrm>
            <a:off x="4038562" y="1694124"/>
            <a:ext cx="4295775" cy="2216388"/>
            <a:chOff x="4038562" y="1694124"/>
            <a:chExt cx="4295775" cy="2216388"/>
          </a:xfrm>
        </p:grpSpPr>
        <p:pic>
          <p:nvPicPr>
            <p:cNvPr id="519" name="Google Shape;519;p6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038562" y="3158037"/>
              <a:ext cx="4295775" cy="75247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20" name="Google Shape;520;p65"/>
            <p:cNvCxnSpPr>
              <a:stCxn id="516" idx="2"/>
              <a:endCxn id="519" idx="0"/>
            </p:cNvCxnSpPr>
            <p:nvPr/>
          </p:nvCxnSpPr>
          <p:spPr>
            <a:xfrm flipH="1">
              <a:off x="6186439" y="1694124"/>
              <a:ext cx="7800" cy="14640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521" name="Google Shape;521;p65"/>
          <p:cNvPicPr preferRelativeResize="0"/>
          <p:nvPr/>
        </p:nvPicPr>
        <p:blipFill rotWithShape="1">
          <a:blip r:embed="rId7">
            <a:alphaModFix/>
          </a:blip>
          <a:srcRect l="2765" r="38660"/>
          <a:stretch/>
        </p:blipFill>
        <p:spPr>
          <a:xfrm>
            <a:off x="3438125" y="4227050"/>
            <a:ext cx="2926525" cy="7871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22" name="Google Shape;522;p65"/>
          <p:cNvPicPr preferRelativeResize="0"/>
          <p:nvPr/>
        </p:nvPicPr>
        <p:blipFill rotWithShape="1">
          <a:blip r:embed="rId7">
            <a:alphaModFix/>
          </a:blip>
          <a:srcRect l="60358"/>
          <a:stretch/>
        </p:blipFill>
        <p:spPr>
          <a:xfrm>
            <a:off x="6662062" y="4233450"/>
            <a:ext cx="1948325" cy="774275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How Advantage Function works …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528" name="Google Shape;528;p66"/>
          <p:cNvPicPr preferRelativeResize="0"/>
          <p:nvPr/>
        </p:nvPicPr>
        <p:blipFill rotWithShape="1">
          <a:blip r:embed="rId3">
            <a:alphaModFix/>
          </a:blip>
          <a:srcRect b="28628"/>
          <a:stretch/>
        </p:blipFill>
        <p:spPr>
          <a:xfrm>
            <a:off x="228600" y="1170125"/>
            <a:ext cx="8620125" cy="11081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9" name="Google Shape;52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571750"/>
            <a:ext cx="7639050" cy="685800"/>
          </a:xfrm>
          <a:prstGeom prst="rect">
            <a:avLst/>
          </a:prstGeom>
          <a:noFill/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30" name="Google Shape;53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3409950"/>
            <a:ext cx="5772150" cy="13906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How Advantage Function (i.e., </a:t>
            </a:r>
            <a:r>
              <a:rPr lang="en" sz="2520">
                <a:solidFill>
                  <a:srgbClr val="9900FF"/>
                </a:solidFill>
              </a:rPr>
              <a:t>Critic</a:t>
            </a:r>
            <a:r>
              <a:rPr lang="en" sz="2520"/>
              <a:t>) helps the Actor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536" name="Google Shape;53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50" y="1183800"/>
            <a:ext cx="8071898" cy="3820976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7" name="Google Shape;537;p67"/>
          <p:cNvSpPr txBox="1"/>
          <p:nvPr/>
        </p:nvSpPr>
        <p:spPr>
          <a:xfrm>
            <a:off x="933950" y="2722225"/>
            <a:ext cx="7154400" cy="477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i="1"/>
              <a:t>by step 22 it’s 95 % sure, </a:t>
            </a:r>
            <a:r>
              <a:rPr lang="en" sz="1900" i="1">
                <a:highlight>
                  <a:srgbClr val="FFFF00"/>
                </a:highlight>
              </a:rPr>
              <a:t>so only a tiny +0.01 “bonus” remains.</a:t>
            </a:r>
            <a:endParaRPr sz="1900" i="1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8"/>
          <p:cNvSpPr txBox="1">
            <a:spLocks noGrp="1"/>
          </p:cNvSpPr>
          <p:nvPr>
            <p:ph type="title"/>
          </p:nvPr>
        </p:nvSpPr>
        <p:spPr>
          <a:xfrm>
            <a:off x="311700" y="9138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Extracting </a:t>
            </a:r>
            <a:r>
              <a:rPr lang="en" sz="2520">
                <a:solidFill>
                  <a:srgbClr val="0000FF"/>
                </a:solidFill>
              </a:rPr>
              <a:t>Importance Ratio</a:t>
            </a:r>
            <a:r>
              <a:rPr lang="en" sz="2520"/>
              <a:t> out</a:t>
            </a:r>
            <a:endParaRPr sz="2520">
              <a:solidFill>
                <a:srgbClr val="FF0000"/>
              </a:solidFill>
            </a:endParaRPr>
          </a:p>
        </p:txBody>
      </p:sp>
      <p:pic>
        <p:nvPicPr>
          <p:cNvPr id="543" name="Google Shape;543;p68"/>
          <p:cNvPicPr preferRelativeResize="0"/>
          <p:nvPr/>
        </p:nvPicPr>
        <p:blipFill rotWithShape="1">
          <a:blip r:embed="rId3">
            <a:alphaModFix/>
          </a:blip>
          <a:srcRect l="2765" r="38660"/>
          <a:stretch/>
        </p:blipFill>
        <p:spPr>
          <a:xfrm>
            <a:off x="5001150" y="4178566"/>
            <a:ext cx="2926525" cy="7871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544" name="Google Shape;54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100" y="846190"/>
            <a:ext cx="4823702" cy="8449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45" name="Google Shape;545;p68"/>
          <p:cNvGrpSpPr/>
          <p:nvPr/>
        </p:nvGrpSpPr>
        <p:grpSpPr>
          <a:xfrm>
            <a:off x="1160450" y="1454441"/>
            <a:ext cx="6034675" cy="1442521"/>
            <a:chOff x="1160450" y="1632275"/>
            <a:chExt cx="6034675" cy="1442521"/>
          </a:xfrm>
        </p:grpSpPr>
        <p:pic>
          <p:nvPicPr>
            <p:cNvPr id="546" name="Google Shape;546;p68"/>
            <p:cNvPicPr preferRelativeResize="0"/>
            <p:nvPr/>
          </p:nvPicPr>
          <p:blipFill rotWithShape="1">
            <a:blip r:embed="rId5">
              <a:alphaModFix/>
            </a:blip>
            <a:srcRect r="35608"/>
            <a:stretch/>
          </p:blipFill>
          <p:spPr>
            <a:xfrm>
              <a:off x="1160450" y="2229850"/>
              <a:ext cx="4295775" cy="844946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47" name="Google Shape;547;p68"/>
            <p:cNvCxnSpPr/>
            <p:nvPr/>
          </p:nvCxnSpPr>
          <p:spPr>
            <a:xfrm>
              <a:off x="5772525" y="1632275"/>
              <a:ext cx="1422600" cy="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8" name="Google Shape;548;p68"/>
            <p:cNvCxnSpPr>
              <a:endCxn id="546" idx="0"/>
            </p:cNvCxnSpPr>
            <p:nvPr/>
          </p:nvCxnSpPr>
          <p:spPr>
            <a:xfrm flipH="1">
              <a:off x="3308338" y="1649050"/>
              <a:ext cx="3069900" cy="580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49" name="Google Shape;549;p68"/>
          <p:cNvGrpSpPr/>
          <p:nvPr/>
        </p:nvGrpSpPr>
        <p:grpSpPr>
          <a:xfrm>
            <a:off x="5782838" y="2052016"/>
            <a:ext cx="3194662" cy="1459034"/>
            <a:chOff x="5782838" y="2229850"/>
            <a:chExt cx="3194662" cy="1459034"/>
          </a:xfrm>
        </p:grpSpPr>
        <p:pic>
          <p:nvPicPr>
            <p:cNvPr id="550" name="Google Shape;550;p68"/>
            <p:cNvPicPr preferRelativeResize="0"/>
            <p:nvPr/>
          </p:nvPicPr>
          <p:blipFill rotWithShape="1">
            <a:blip r:embed="rId5">
              <a:alphaModFix/>
            </a:blip>
            <a:srcRect l="69545"/>
            <a:stretch/>
          </p:blipFill>
          <p:spPr>
            <a:xfrm>
              <a:off x="5782838" y="2229850"/>
              <a:ext cx="2031712" cy="844950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51" name="Google Shape;551;p68"/>
            <p:cNvSpPr txBox="1"/>
            <p:nvPr/>
          </p:nvSpPr>
          <p:spPr>
            <a:xfrm>
              <a:off x="5844900" y="3042384"/>
              <a:ext cx="313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0000FF"/>
                  </a:solidFill>
                </a:rPr>
                <a:t>Importance Ratio</a:t>
              </a:r>
              <a:r>
                <a:rPr lang="en" sz="1500">
                  <a:solidFill>
                    <a:srgbClr val="FF0000"/>
                  </a:solidFill>
                </a:rPr>
                <a:t> </a:t>
              </a:r>
              <a:r>
                <a:rPr lang="en" sz="1500">
                  <a:solidFill>
                    <a:schemeClr val="dk1"/>
                  </a:solidFill>
                </a:rPr>
                <a:t>(Store previous checkpoints → </a:t>
              </a:r>
              <a:r>
                <a:rPr lang="en" sz="1500" i="1" u="sng">
                  <a:solidFill>
                    <a:schemeClr val="dk1"/>
                  </a:solidFill>
                </a:rPr>
                <a:t>Offline Policy</a:t>
              </a:r>
              <a:r>
                <a:rPr lang="en" sz="1500">
                  <a:solidFill>
                    <a:schemeClr val="dk1"/>
                  </a:solidFill>
                </a:rPr>
                <a:t>)</a:t>
              </a:r>
              <a:endParaRPr sz="1500">
                <a:solidFill>
                  <a:schemeClr val="dk1"/>
                </a:solidFill>
              </a:endParaRPr>
            </a:p>
          </p:txBody>
        </p:sp>
      </p:grpSp>
      <p:grpSp>
        <p:nvGrpSpPr>
          <p:cNvPr id="552" name="Google Shape;552;p68"/>
          <p:cNvGrpSpPr/>
          <p:nvPr/>
        </p:nvGrpSpPr>
        <p:grpSpPr>
          <a:xfrm>
            <a:off x="1629777" y="2896962"/>
            <a:ext cx="3371366" cy="1035552"/>
            <a:chOff x="1629777" y="3074796"/>
            <a:chExt cx="3371366" cy="1035552"/>
          </a:xfrm>
        </p:grpSpPr>
        <p:pic>
          <p:nvPicPr>
            <p:cNvPr id="553" name="Google Shape;553;p6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29777" y="3537648"/>
              <a:ext cx="3371366" cy="5727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54" name="Google Shape;554;p68"/>
            <p:cNvCxnSpPr>
              <a:stCxn id="546" idx="2"/>
              <a:endCxn id="553" idx="0"/>
            </p:cNvCxnSpPr>
            <p:nvPr/>
          </p:nvCxnSpPr>
          <p:spPr>
            <a:xfrm>
              <a:off x="3308338" y="3074796"/>
              <a:ext cx="7200" cy="46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55" name="Google Shape;555;p68"/>
          <p:cNvGrpSpPr/>
          <p:nvPr/>
        </p:nvGrpSpPr>
        <p:grpSpPr>
          <a:xfrm>
            <a:off x="3013225" y="2688641"/>
            <a:ext cx="6130875" cy="1224534"/>
            <a:chOff x="3013225" y="2866475"/>
            <a:chExt cx="6130875" cy="1224534"/>
          </a:xfrm>
        </p:grpSpPr>
        <p:cxnSp>
          <p:nvCxnSpPr>
            <p:cNvPr id="556" name="Google Shape;556;p68"/>
            <p:cNvCxnSpPr/>
            <p:nvPr/>
          </p:nvCxnSpPr>
          <p:spPr>
            <a:xfrm>
              <a:off x="3013225" y="2866475"/>
              <a:ext cx="1395300" cy="138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68"/>
            <p:cNvCxnSpPr/>
            <p:nvPr/>
          </p:nvCxnSpPr>
          <p:spPr>
            <a:xfrm>
              <a:off x="4230700" y="2907525"/>
              <a:ext cx="1545900" cy="971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8" name="Google Shape;558;p68"/>
            <p:cNvSpPr txBox="1"/>
            <p:nvPr/>
          </p:nvSpPr>
          <p:spPr>
            <a:xfrm>
              <a:off x="5708200" y="3659909"/>
              <a:ext cx="34359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FF0000"/>
                  </a:solidFill>
                </a:rPr>
                <a:t>Gradient = 0 </a:t>
              </a:r>
              <a:r>
                <a:rPr lang="en" sz="1600">
                  <a:solidFill>
                    <a:schemeClr val="dk1"/>
                  </a:solidFill>
                </a:rPr>
                <a:t>(because old is </a:t>
              </a:r>
              <a:r>
                <a:rPr lang="en" sz="1600" i="1" u="sng">
                  <a:solidFill>
                    <a:srgbClr val="FF0000"/>
                  </a:solidFill>
                </a:rPr>
                <a:t>frozen</a:t>
              </a:r>
              <a:r>
                <a:rPr lang="en" sz="1600">
                  <a:solidFill>
                    <a:schemeClr val="dk1"/>
                  </a:solidFill>
                </a:rPr>
                <a:t>)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grpSp>
        <p:nvGrpSpPr>
          <p:cNvPr id="559" name="Google Shape;559;p68"/>
          <p:cNvGrpSpPr/>
          <p:nvPr/>
        </p:nvGrpSpPr>
        <p:grpSpPr>
          <a:xfrm>
            <a:off x="393763" y="1268665"/>
            <a:ext cx="3810715" cy="3697001"/>
            <a:chOff x="393763" y="1268665"/>
            <a:chExt cx="3810715" cy="3697001"/>
          </a:xfrm>
        </p:grpSpPr>
        <p:pic>
          <p:nvPicPr>
            <p:cNvPr id="560" name="Google Shape;560;p6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3763" y="4178566"/>
              <a:ext cx="3810715" cy="7871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cxnSp>
          <p:nvCxnSpPr>
            <p:cNvPr id="561" name="Google Shape;561;p68"/>
            <p:cNvCxnSpPr>
              <a:stCxn id="544" idx="1"/>
            </p:cNvCxnSpPr>
            <p:nvPr/>
          </p:nvCxnSpPr>
          <p:spPr>
            <a:xfrm flipH="1">
              <a:off x="605500" y="1268665"/>
              <a:ext cx="1818600" cy="2870100"/>
            </a:xfrm>
            <a:prstGeom prst="bentConnector2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562" name="Google Shape;562;p68"/>
          <p:cNvCxnSpPr/>
          <p:nvPr/>
        </p:nvCxnSpPr>
        <p:spPr>
          <a:xfrm>
            <a:off x="3777250" y="4753116"/>
            <a:ext cx="220800" cy="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3" name="Google Shape;563;p68"/>
          <p:cNvGrpSpPr/>
          <p:nvPr/>
        </p:nvGrpSpPr>
        <p:grpSpPr>
          <a:xfrm>
            <a:off x="7927675" y="4035453"/>
            <a:ext cx="1216336" cy="787101"/>
            <a:chOff x="7775275" y="4035453"/>
            <a:chExt cx="1216336" cy="787101"/>
          </a:xfrm>
        </p:grpSpPr>
        <p:pic>
          <p:nvPicPr>
            <p:cNvPr id="564" name="Google Shape;564;p68"/>
            <p:cNvPicPr preferRelativeResize="0"/>
            <p:nvPr/>
          </p:nvPicPr>
          <p:blipFill rotWithShape="1">
            <a:blip r:embed="rId8">
              <a:alphaModFix/>
            </a:blip>
            <a:srcRect l="9871" t="17400" r="86394" b="76561"/>
            <a:stretch/>
          </p:blipFill>
          <p:spPr>
            <a:xfrm>
              <a:off x="8404653" y="4035453"/>
              <a:ext cx="586958" cy="7871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65" name="Google Shape;565;p68"/>
            <p:cNvCxnSpPr>
              <a:stCxn id="543" idx="3"/>
              <a:endCxn id="564" idx="1"/>
            </p:cNvCxnSpPr>
            <p:nvPr/>
          </p:nvCxnSpPr>
          <p:spPr>
            <a:xfrm rot="10800000" flipH="1">
              <a:off x="7775275" y="4429016"/>
              <a:ext cx="629400" cy="1431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But the </a:t>
            </a:r>
            <a:r>
              <a:rPr lang="en" sz="2520">
                <a:solidFill>
                  <a:srgbClr val="9900FF"/>
                </a:solidFill>
              </a:rPr>
              <a:t>Critic</a:t>
            </a:r>
            <a:r>
              <a:rPr lang="en" sz="2520"/>
              <a:t> is also not a great teacher (</a:t>
            </a:r>
            <a:r>
              <a:rPr lang="en" sz="2520" i="1" u="sng">
                <a:solidFill>
                  <a:srgbClr val="FF0000"/>
                </a:solidFill>
              </a:rPr>
              <a:t>yet</a:t>
            </a:r>
            <a:r>
              <a:rPr lang="en" sz="2520"/>
              <a:t>)!</a:t>
            </a:r>
            <a:endParaRPr sz="252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571" name="Google Shape;57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4674" y="3206225"/>
            <a:ext cx="4430000" cy="94077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572" name="Google Shape;572;p69"/>
          <p:cNvGrpSpPr/>
          <p:nvPr/>
        </p:nvGrpSpPr>
        <p:grpSpPr>
          <a:xfrm>
            <a:off x="539375" y="1623125"/>
            <a:ext cx="5219532" cy="1394950"/>
            <a:chOff x="256975" y="2366575"/>
            <a:chExt cx="5219532" cy="1394950"/>
          </a:xfrm>
        </p:grpSpPr>
        <p:pic>
          <p:nvPicPr>
            <p:cNvPr id="573" name="Google Shape;573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975" y="3106675"/>
              <a:ext cx="5219532" cy="65485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574" name="Google Shape;574;p69"/>
            <p:cNvPicPr preferRelativeResize="0"/>
            <p:nvPr/>
          </p:nvPicPr>
          <p:blipFill rotWithShape="1">
            <a:blip r:embed="rId5">
              <a:alphaModFix/>
            </a:blip>
            <a:srcRect l="17245" t="10627" r="18574" b="15315"/>
            <a:stretch/>
          </p:blipFill>
          <p:spPr>
            <a:xfrm>
              <a:off x="311700" y="2366575"/>
              <a:ext cx="567525" cy="654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5" name="Google Shape;575;p69"/>
          <p:cNvGrpSpPr/>
          <p:nvPr/>
        </p:nvGrpSpPr>
        <p:grpSpPr>
          <a:xfrm>
            <a:off x="1161625" y="1308488"/>
            <a:ext cx="3423239" cy="647700"/>
            <a:chOff x="30300" y="2368350"/>
            <a:chExt cx="3423239" cy="647700"/>
          </a:xfrm>
        </p:grpSpPr>
        <p:cxnSp>
          <p:nvCxnSpPr>
            <p:cNvPr id="576" name="Google Shape;576;p69"/>
            <p:cNvCxnSpPr>
              <a:stCxn id="574" idx="3"/>
              <a:endCxn id="577" idx="1"/>
            </p:cNvCxnSpPr>
            <p:nvPr/>
          </p:nvCxnSpPr>
          <p:spPr>
            <a:xfrm rot="10800000" flipH="1">
              <a:off x="30300" y="2692112"/>
              <a:ext cx="1326000" cy="318300"/>
            </a:xfrm>
            <a:prstGeom prst="straightConnector1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77" name="Google Shape;577;p6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356225" y="2368350"/>
              <a:ext cx="2097314" cy="647700"/>
            </a:xfrm>
            <a:prstGeom prst="rect">
              <a:avLst/>
            </a:prstGeom>
            <a:noFill/>
            <a:ln w="28575" cap="flat" cmpd="sng">
              <a:solidFill>
                <a:srgbClr val="9900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578" name="Google Shape;578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8888" y="4335150"/>
            <a:ext cx="5165275" cy="512775"/>
          </a:xfrm>
          <a:prstGeom prst="rect">
            <a:avLst/>
          </a:prstGeom>
          <a:noFill/>
          <a:ln w="3810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PPO kicks in!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20"/>
              <a:t>PPO is all about </a:t>
            </a:r>
            <a:r>
              <a:rPr lang="en" sz="2520">
                <a:solidFill>
                  <a:srgbClr val="FF0000"/>
                </a:solidFill>
              </a:rPr>
              <a:t>regulating</a:t>
            </a:r>
            <a:r>
              <a:rPr lang="en" sz="2520"/>
              <a:t> the Importance Ratio</a:t>
            </a:r>
            <a:endParaRPr sz="252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589" name="Google Shape;58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263" y="1196441"/>
            <a:ext cx="3810715" cy="787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590" name="Google Shape;590;p71"/>
          <p:cNvCxnSpPr/>
          <p:nvPr/>
        </p:nvCxnSpPr>
        <p:spPr>
          <a:xfrm rot="10800000">
            <a:off x="4846175" y="1813050"/>
            <a:ext cx="1067100" cy="13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91" name="Google Shape;591;p71"/>
          <p:cNvGrpSpPr/>
          <p:nvPr/>
        </p:nvGrpSpPr>
        <p:grpSpPr>
          <a:xfrm>
            <a:off x="6472325" y="1323291"/>
            <a:ext cx="2305050" cy="995109"/>
            <a:chOff x="6472325" y="1323291"/>
            <a:chExt cx="2305050" cy="995109"/>
          </a:xfrm>
        </p:grpSpPr>
        <p:pic>
          <p:nvPicPr>
            <p:cNvPr id="592" name="Google Shape;592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2325" y="1323291"/>
              <a:ext cx="2305050" cy="5334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93" name="Google Shape;593;p71"/>
            <p:cNvSpPr txBox="1"/>
            <p:nvPr/>
          </p:nvSpPr>
          <p:spPr>
            <a:xfrm>
              <a:off x="7084775" y="1856700"/>
              <a:ext cx="1692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rgbClr val="FF0000"/>
                  </a:solidFill>
                </a:rPr>
                <a:t>Small </a:t>
              </a:r>
              <a:r>
                <a:rPr lang="en" sz="1800" i="1">
                  <a:solidFill>
                    <a:schemeClr val="dk2"/>
                  </a:solidFill>
                </a:rPr>
                <a:t>shift</a:t>
              </a:r>
              <a:endParaRPr sz="1800" i="1">
                <a:solidFill>
                  <a:schemeClr val="dk2"/>
                </a:solidFill>
              </a:endParaRPr>
            </a:p>
          </p:txBody>
        </p:sp>
      </p:grpSp>
      <p:grpSp>
        <p:nvGrpSpPr>
          <p:cNvPr id="594" name="Google Shape;594;p71"/>
          <p:cNvGrpSpPr/>
          <p:nvPr/>
        </p:nvGrpSpPr>
        <p:grpSpPr>
          <a:xfrm>
            <a:off x="1435675" y="1991176"/>
            <a:ext cx="5649100" cy="1347124"/>
            <a:chOff x="1435675" y="1991176"/>
            <a:chExt cx="5649100" cy="1347124"/>
          </a:xfrm>
        </p:grpSpPr>
        <p:pic>
          <p:nvPicPr>
            <p:cNvPr id="595" name="Google Shape;595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35675" y="2399776"/>
              <a:ext cx="3029800" cy="938524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596" name="Google Shape;596;p71"/>
            <p:cNvCxnSpPr>
              <a:endCxn id="595" idx="0"/>
            </p:cNvCxnSpPr>
            <p:nvPr/>
          </p:nvCxnSpPr>
          <p:spPr>
            <a:xfrm flipH="1">
              <a:off x="2950575" y="1991176"/>
              <a:ext cx="21600" cy="408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7" name="Google Shape;597;p71"/>
            <p:cNvCxnSpPr>
              <a:stCxn id="593" idx="1"/>
              <a:endCxn id="595" idx="0"/>
            </p:cNvCxnSpPr>
            <p:nvPr/>
          </p:nvCxnSpPr>
          <p:spPr>
            <a:xfrm flipH="1">
              <a:off x="2950475" y="2087550"/>
              <a:ext cx="4134300" cy="3123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98" name="Google Shape;598;p71"/>
          <p:cNvGrpSpPr/>
          <p:nvPr/>
        </p:nvGrpSpPr>
        <p:grpSpPr>
          <a:xfrm>
            <a:off x="6545950" y="2566375"/>
            <a:ext cx="2305050" cy="887425"/>
            <a:chOff x="6393550" y="2718775"/>
            <a:chExt cx="2305050" cy="887425"/>
          </a:xfrm>
        </p:grpSpPr>
        <p:pic>
          <p:nvPicPr>
            <p:cNvPr id="599" name="Google Shape;599;p7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93550" y="2718775"/>
              <a:ext cx="2305050" cy="53606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600" name="Google Shape;600;p71"/>
            <p:cNvSpPr txBox="1"/>
            <p:nvPr/>
          </p:nvSpPr>
          <p:spPr>
            <a:xfrm>
              <a:off x="7006000" y="3144500"/>
              <a:ext cx="1692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i="1">
                  <a:solidFill>
                    <a:srgbClr val="FF0000"/>
                  </a:solidFill>
                </a:rPr>
                <a:t>Large </a:t>
              </a:r>
              <a:r>
                <a:rPr lang="en" sz="1800" i="1">
                  <a:solidFill>
                    <a:schemeClr val="dk2"/>
                  </a:solidFill>
                </a:rPr>
                <a:t>shift</a:t>
              </a:r>
              <a:endParaRPr sz="1800" i="1">
                <a:solidFill>
                  <a:schemeClr val="dk2"/>
                </a:solidFill>
              </a:endParaRPr>
            </a:p>
          </p:txBody>
        </p:sp>
      </p:grpSp>
      <p:grpSp>
        <p:nvGrpSpPr>
          <p:cNvPr id="601" name="Google Shape;601;p71"/>
          <p:cNvGrpSpPr/>
          <p:nvPr/>
        </p:nvGrpSpPr>
        <p:grpSpPr>
          <a:xfrm>
            <a:off x="164448" y="2087550"/>
            <a:ext cx="6993952" cy="2827350"/>
            <a:chOff x="164448" y="2087550"/>
            <a:chExt cx="6993952" cy="2827350"/>
          </a:xfrm>
        </p:grpSpPr>
        <p:grpSp>
          <p:nvGrpSpPr>
            <p:cNvPr id="602" name="Google Shape;602;p71"/>
            <p:cNvGrpSpPr/>
            <p:nvPr/>
          </p:nvGrpSpPr>
          <p:grpSpPr>
            <a:xfrm>
              <a:off x="164448" y="3222950"/>
              <a:ext cx="6993952" cy="1691950"/>
              <a:chOff x="164448" y="3222950"/>
              <a:chExt cx="6993952" cy="1691950"/>
            </a:xfrm>
          </p:grpSpPr>
          <p:pic>
            <p:nvPicPr>
              <p:cNvPr id="603" name="Google Shape;603;p71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64448" y="4027475"/>
                <a:ext cx="6311675" cy="887425"/>
              </a:xfrm>
              <a:prstGeom prst="rect">
                <a:avLst/>
              </a:pr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</p:pic>
          <p:cxnSp>
            <p:nvCxnSpPr>
              <p:cNvPr id="604" name="Google Shape;604;p71"/>
              <p:cNvCxnSpPr>
                <a:stCxn id="600" idx="1"/>
                <a:endCxn id="603" idx="0"/>
              </p:cNvCxnSpPr>
              <p:nvPr/>
            </p:nvCxnSpPr>
            <p:spPr>
              <a:xfrm flipH="1">
                <a:off x="3320200" y="3222950"/>
                <a:ext cx="3838200" cy="80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05" name="Google Shape;605;p71"/>
              <p:cNvCxnSpPr>
                <a:stCxn id="595" idx="2"/>
                <a:endCxn id="603" idx="0"/>
              </p:cNvCxnSpPr>
              <p:nvPr/>
            </p:nvCxnSpPr>
            <p:spPr>
              <a:xfrm>
                <a:off x="2950575" y="3338300"/>
                <a:ext cx="369600" cy="689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606" name="Google Shape;606;p71"/>
            <p:cNvCxnSpPr>
              <a:stCxn id="593" idx="1"/>
              <a:endCxn id="603" idx="0"/>
            </p:cNvCxnSpPr>
            <p:nvPr/>
          </p:nvCxnSpPr>
          <p:spPr>
            <a:xfrm flipH="1">
              <a:off x="3320375" y="2087550"/>
              <a:ext cx="3764400" cy="1939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607" name="Google Shape;607;p71"/>
          <p:cNvGrpSpPr/>
          <p:nvPr/>
        </p:nvGrpSpPr>
        <p:grpSpPr>
          <a:xfrm>
            <a:off x="632071" y="2799959"/>
            <a:ext cx="985788" cy="1215721"/>
            <a:chOff x="768903" y="2571753"/>
            <a:chExt cx="999379" cy="1402701"/>
          </a:xfrm>
        </p:grpSpPr>
        <p:pic>
          <p:nvPicPr>
            <p:cNvPr id="608" name="Google Shape;608;p71"/>
            <p:cNvPicPr preferRelativeResize="0"/>
            <p:nvPr/>
          </p:nvPicPr>
          <p:blipFill rotWithShape="1">
            <a:blip r:embed="rId8">
              <a:alphaModFix/>
            </a:blip>
            <a:srcRect l="9871" t="17400" r="86394" b="76561"/>
            <a:stretch/>
          </p:blipFill>
          <p:spPr>
            <a:xfrm>
              <a:off x="768903" y="2571753"/>
              <a:ext cx="586958" cy="78710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9" name="Google Shape;609;p71"/>
            <p:cNvCxnSpPr>
              <a:endCxn id="608" idx="2"/>
            </p:cNvCxnSpPr>
            <p:nvPr/>
          </p:nvCxnSpPr>
          <p:spPr>
            <a:xfrm rot="10800000">
              <a:off x="1062382" y="3358854"/>
              <a:ext cx="705900" cy="615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610" name="Google Shape;610;p7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55275" y="3551299"/>
            <a:ext cx="2488725" cy="114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2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The final </a:t>
            </a:r>
            <a:r>
              <a:rPr lang="en" sz="2520">
                <a:solidFill>
                  <a:srgbClr val="38761D"/>
                </a:solidFill>
              </a:rPr>
              <a:t>Aggregate Loss</a:t>
            </a:r>
            <a:endParaRPr sz="252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616" name="Google Shape;616;p72"/>
          <p:cNvPicPr preferRelativeResize="0"/>
          <p:nvPr/>
        </p:nvPicPr>
        <p:blipFill rotWithShape="1">
          <a:blip r:embed="rId3">
            <a:alphaModFix/>
          </a:blip>
          <a:srcRect r="92653"/>
          <a:stretch/>
        </p:blipFill>
        <p:spPr>
          <a:xfrm>
            <a:off x="1081900" y="1197486"/>
            <a:ext cx="1069524" cy="1188200"/>
          </a:xfrm>
          <a:prstGeom prst="rect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17" name="Google Shape;617;p72"/>
          <p:cNvPicPr preferRelativeResize="0"/>
          <p:nvPr/>
        </p:nvPicPr>
        <p:blipFill rotWithShape="1">
          <a:blip r:embed="rId3">
            <a:alphaModFix/>
          </a:blip>
          <a:srcRect l="77710"/>
          <a:stretch/>
        </p:blipFill>
        <p:spPr>
          <a:xfrm>
            <a:off x="3847912" y="3851325"/>
            <a:ext cx="3245076" cy="11882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8" name="Google Shape;618;p72"/>
          <p:cNvPicPr preferRelativeResize="0"/>
          <p:nvPr/>
        </p:nvPicPr>
        <p:blipFill rotWithShape="1">
          <a:blip r:embed="rId3">
            <a:alphaModFix/>
          </a:blip>
          <a:srcRect l="51400" r="21826"/>
          <a:stretch/>
        </p:blipFill>
        <p:spPr>
          <a:xfrm>
            <a:off x="3292982" y="2524400"/>
            <a:ext cx="3897750" cy="1188200"/>
          </a:xfrm>
          <a:prstGeom prst="rect">
            <a:avLst/>
          </a:prstGeom>
          <a:noFill/>
          <a:ln w="2857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19" name="Google Shape;619;p72"/>
          <p:cNvPicPr preferRelativeResize="0"/>
          <p:nvPr/>
        </p:nvPicPr>
        <p:blipFill rotWithShape="1">
          <a:blip r:embed="rId3">
            <a:alphaModFix/>
          </a:blip>
          <a:srcRect l="7522" r="48207"/>
          <a:stretch/>
        </p:blipFill>
        <p:spPr>
          <a:xfrm>
            <a:off x="2260850" y="1197474"/>
            <a:ext cx="6444975" cy="1188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620" name="Google Shape;620;p72"/>
          <p:cNvGrpSpPr/>
          <p:nvPr/>
        </p:nvGrpSpPr>
        <p:grpSpPr>
          <a:xfrm>
            <a:off x="256076" y="4055376"/>
            <a:ext cx="6836912" cy="780100"/>
            <a:chOff x="256076" y="4055376"/>
            <a:chExt cx="6836912" cy="780100"/>
          </a:xfrm>
        </p:grpSpPr>
        <p:pic>
          <p:nvPicPr>
            <p:cNvPr id="621" name="Google Shape;621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076" y="4055376"/>
              <a:ext cx="3180415" cy="780100"/>
            </a:xfrm>
            <a:prstGeom prst="rect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sm" len="sm"/>
              <a:tailEnd type="none" w="sm" len="sm"/>
            </a:ln>
          </p:spPr>
        </p:pic>
        <p:cxnSp>
          <p:nvCxnSpPr>
            <p:cNvPr id="622" name="Google Shape;622;p72"/>
            <p:cNvCxnSpPr>
              <a:endCxn id="617" idx="3"/>
            </p:cNvCxnSpPr>
            <p:nvPr/>
          </p:nvCxnSpPr>
          <p:spPr>
            <a:xfrm>
              <a:off x="5858488" y="4445425"/>
              <a:ext cx="1234500" cy="0"/>
            </a:xfrm>
            <a:prstGeom prst="straightConnector1">
              <a:avLst/>
            </a:prstGeom>
            <a:noFill/>
            <a:ln w="28575" cap="flat" cmpd="sng">
              <a:solidFill>
                <a:srgbClr val="00FF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23" name="Google Shape;623;p72"/>
          <p:cNvSpPr txBox="1"/>
          <p:nvPr/>
        </p:nvSpPr>
        <p:spPr>
          <a:xfrm>
            <a:off x="753900" y="4577825"/>
            <a:ext cx="2346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2"/>
                </a:solidFill>
              </a:rPr>
              <a:t>(H) For Exploration</a:t>
            </a:r>
            <a:endParaRPr sz="1800" i="1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>
                <a:solidFill>
                  <a:srgbClr val="000000"/>
                </a:solidFill>
              </a:rPr>
              <a:t>Why we need to go beyond Instruction-based SFT</a:t>
            </a:r>
            <a:endParaRPr sz="2320" i="1">
              <a:solidFill>
                <a:srgbClr val="FF0000"/>
              </a:solidFill>
              <a:highlight>
                <a:srgbClr val="D9EAD3"/>
              </a:highlight>
            </a:endParaRPr>
          </a:p>
        </p:txBody>
      </p:sp>
      <p:graphicFrame>
        <p:nvGraphicFramePr>
          <p:cNvPr id="629" name="Google Shape;629;p73"/>
          <p:cNvGraphicFramePr/>
          <p:nvPr/>
        </p:nvGraphicFramePr>
        <p:xfrm>
          <a:off x="228600" y="129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{B8909C88-4E8D-43B8-8190-B56D3184EC09}</a:tableStyleId>
              </a:tblPr>
              <a:tblGrid>
                <a:gridCol w="23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Limitation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Cause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What can happen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Single-reference loss</a:t>
                      </a:r>
                      <a:r>
                        <a:rPr lang="en"/>
                        <a:t> – cross-entropy scores only one “gold” answer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Teacher-forcing treats any divergence from that answer as error,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even if several answers are equally good</a:t>
                      </a:r>
                      <a:endParaRPr i="1"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Repetition</a:t>
                      </a:r>
                      <a:r>
                        <a:rPr lang="en"/>
                        <a:t> or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generic</a:t>
                      </a:r>
                      <a:r>
                        <a:rPr lang="en"/>
                        <a:t> answers;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no reward for richer explanations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Length bias &amp; brevity reward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Cross-entropy normalises by tokens, so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shorter replies get less loss</a:t>
                      </a:r>
                      <a:r>
                        <a:rPr lang="en"/>
                        <a:t> and dominate training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models often produce terse, </a:t>
                      </a:r>
                      <a:r>
                        <a:rPr lang="en">
                          <a:solidFill>
                            <a:srgbClr val="FF0000"/>
                          </a:solidFill>
                        </a:rPr>
                        <a:t>under-informative answers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Hard-coded style / tone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SFT bakes a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fixed style</a:t>
                      </a:r>
                      <a:r>
                        <a:rPr lang="en"/>
                        <a:t> that mirrors the dataset; </a:t>
                      </a:r>
                      <a:r>
                        <a:rPr lang="en" i="1">
                          <a:solidFill>
                            <a:srgbClr val="FF0000"/>
                          </a:solidFill>
                        </a:rPr>
                        <a:t>changing tone means collecting new triples</a:t>
                      </a:r>
                      <a:endParaRPr i="1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can’t easily be made more formal, shorter, etc.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Limited long-horizon control</a:t>
                      </a:r>
                      <a:endParaRPr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Token-level CE sees only one turn; </a:t>
                      </a:r>
                      <a:r>
                        <a:rPr lang="en" i="1">
                          <a:highlight>
                            <a:srgbClr val="F4CCCC"/>
                          </a:highlight>
                        </a:rPr>
                        <a:t>multi-turn goals receive no direct signal</a:t>
                      </a:r>
                      <a:r>
                        <a:rPr lang="en"/>
                        <a:t> ﻿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Incoherent or </a:t>
                      </a:r>
                      <a:r>
                        <a:rPr lang="en">
                          <a:solidFill>
                            <a:srgbClr val="FF0000"/>
                          </a:solidFill>
                          <a:highlight>
                            <a:srgbClr val="F4CCCC"/>
                          </a:highlight>
                        </a:rPr>
                        <a:t>contradictory </a:t>
                      </a:r>
                      <a:r>
                        <a:rPr lang="en">
                          <a:highlight>
                            <a:srgbClr val="F4CCCC"/>
                          </a:highlight>
                        </a:rPr>
                        <a:t>multi-turn chats</a:t>
                      </a:r>
                      <a:endParaRPr>
                        <a:highlight>
                          <a:srgbClr val="F4CCCC"/>
                        </a:highlight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Preference-based Fine-tuning → RL</a:t>
            </a:r>
            <a:r>
              <a:rPr lang="en" i="1" u="sng">
                <a:solidFill>
                  <a:srgbClr val="FF0000"/>
                </a:solidFill>
              </a:rPr>
              <a:t>HF</a:t>
            </a:r>
            <a:br>
              <a:rPr lang="en"/>
            </a:br>
            <a:br>
              <a:rPr lang="en"/>
            </a:br>
            <a:r>
              <a:rPr lang="en"/>
              <a:t>(next class)</a:t>
            </a:r>
            <a:endParaRPr b="1" i="1">
              <a:solidFill>
                <a:srgbClr val="A61C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1018</Words>
  <Application>Microsoft Office PowerPoint</Application>
  <PresentationFormat>On-screen Show (16:9)</PresentationFormat>
  <Paragraphs>158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Simple Light</vt:lpstr>
      <vt:lpstr>Simple Light</vt:lpstr>
      <vt:lpstr>Reinforcement Learning based Fine-tuning</vt:lpstr>
      <vt:lpstr>Why we need to go beyond Instruction-based SFT</vt:lpstr>
      <vt:lpstr>Reinforcement Learning: Building Blocks</vt:lpstr>
      <vt:lpstr>The Game of “Treasure Hunt”</vt:lpstr>
      <vt:lpstr>Agent plans in an Environment (good/bad/ugly)</vt:lpstr>
      <vt:lpstr>In each state Agent has a policy (what to do)</vt:lpstr>
      <vt:lpstr>Agent’s action has a consequence (Reward)</vt:lpstr>
      <vt:lpstr>Because of rewards Agent can be in good/bad/ugly state (Value)</vt:lpstr>
      <vt:lpstr>(Finite) Markov Decision Process</vt:lpstr>
      <vt:lpstr>An example Finite Markov Decision Process (MDP)</vt:lpstr>
      <vt:lpstr>Markov Processes</vt:lpstr>
      <vt:lpstr>Why “Markov”?</vt:lpstr>
      <vt:lpstr>What happens because of MDP Assumption </vt:lpstr>
      <vt:lpstr>Environment provides “Reward” when Agent arrives at s’</vt:lpstr>
      <vt:lpstr>Agent needs to maximize “Return”?</vt:lpstr>
      <vt:lpstr>How good is a state = How good is the “Expected Return”?</vt:lpstr>
      <vt:lpstr>What “Markov” means is how good is the next state</vt:lpstr>
      <vt:lpstr>How good is a state = How good is the “Expected Return”?</vt:lpstr>
      <vt:lpstr>What would be the state-to-action mapping (Policy)?</vt:lpstr>
      <vt:lpstr>What exactly is a Policy?</vt:lpstr>
      <vt:lpstr>Reinforcement Learning</vt:lpstr>
      <vt:lpstr>What is Policy Update for an LLM (in the context of RL-tuning)?</vt:lpstr>
      <vt:lpstr>What would be the Optimal Policy?</vt:lpstr>
      <vt:lpstr>Easier way: How good is an Action from a specific State (Q-State)?</vt:lpstr>
      <vt:lpstr>Easier way: What would be the Optimal Policy?</vt:lpstr>
      <vt:lpstr>Reinforcement Learning Algorithms (Policy Optimization)</vt:lpstr>
      <vt:lpstr>Reinforcement Learning Algorithms (Policy Optimization)</vt:lpstr>
      <vt:lpstr>Reinforcement Learning Algorithms (Policy Optimization)</vt:lpstr>
      <vt:lpstr>Reinforcement Learning Algorithms</vt:lpstr>
      <vt:lpstr>RL in NLP</vt:lpstr>
      <vt:lpstr>Framing Summarization as Policy-Update Problem</vt:lpstr>
      <vt:lpstr>Framing Summarization as Policy-Update Problem</vt:lpstr>
      <vt:lpstr>However, something is different …</vt:lpstr>
      <vt:lpstr>Then why not just call it Supervised Fine-tuning?</vt:lpstr>
      <vt:lpstr>Then why not just call it Supervised Fine-tuning?</vt:lpstr>
      <vt:lpstr>Key Takeaways: RL vs Supervised Fine-tuning</vt:lpstr>
      <vt:lpstr>(Offline) Policy-update based RL in NLP</vt:lpstr>
      <vt:lpstr>Return (= Reward) after Response is completed</vt:lpstr>
      <vt:lpstr>Example: Return for Summarization Task</vt:lpstr>
      <vt:lpstr>Policy Update needs loves intermediate incentive for training</vt:lpstr>
      <vt:lpstr>Policy Update in the context of PPO</vt:lpstr>
      <vt:lpstr>How Advantage Function works …</vt:lpstr>
      <vt:lpstr>How Advantage Function (i.e., Critic) helps the Actor</vt:lpstr>
      <vt:lpstr>Extracting Importance Ratio out</vt:lpstr>
      <vt:lpstr>But the Critic is also not a great teacher (yet)! </vt:lpstr>
      <vt:lpstr>PPO kicks in!</vt:lpstr>
      <vt:lpstr>PPO is all about regulating the Importance Ratio </vt:lpstr>
      <vt:lpstr>The final Aggregate Loss </vt:lpstr>
      <vt:lpstr>Why we need to go beyond Instruction-based SFT</vt:lpstr>
      <vt:lpstr>User Preference-based Fine-tuning → RLHF  (next class)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aman prakash</cp:lastModifiedBy>
  <cp:revision>1</cp:revision>
  <dcterms:modified xsi:type="dcterms:W3CDTF">2026-06-29T08:11:40Z</dcterms:modified>
</cp:coreProperties>
</file>